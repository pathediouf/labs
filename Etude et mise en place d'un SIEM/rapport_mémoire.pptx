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930" r:id="rId1"/>
  </p:sldMasterIdLst>
  <p:notesMasterIdLst>
    <p:notesMasterId r:id="rId27"/>
  </p:notesMasterIdLst>
  <p:handoutMasterIdLst>
    <p:handoutMasterId r:id="rId28"/>
  </p:handoutMasterIdLst>
  <p:sldIdLst>
    <p:sldId id="256" r:id="rId2"/>
    <p:sldId id="259" r:id="rId3"/>
    <p:sldId id="257" r:id="rId4"/>
    <p:sldId id="258" r:id="rId5"/>
    <p:sldId id="264" r:id="rId6"/>
    <p:sldId id="279" r:id="rId7"/>
    <p:sldId id="267" r:id="rId8"/>
    <p:sldId id="280" r:id="rId9"/>
    <p:sldId id="260" r:id="rId10"/>
    <p:sldId id="286" r:id="rId11"/>
    <p:sldId id="268" r:id="rId12"/>
    <p:sldId id="293" r:id="rId13"/>
    <p:sldId id="275" r:id="rId14"/>
    <p:sldId id="261" r:id="rId15"/>
    <p:sldId id="271" r:id="rId16"/>
    <p:sldId id="262" r:id="rId17"/>
    <p:sldId id="283" r:id="rId18"/>
    <p:sldId id="289" r:id="rId19"/>
    <p:sldId id="292" r:id="rId20"/>
    <p:sldId id="291" r:id="rId21"/>
    <p:sldId id="288" r:id="rId22"/>
    <p:sldId id="278" r:id="rId23"/>
    <p:sldId id="295" r:id="rId24"/>
    <p:sldId id="263" r:id="rId25"/>
    <p:sldId id="287"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3CC"/>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0535" autoAdjust="0"/>
  </p:normalViewPr>
  <p:slideViewPr>
    <p:cSldViewPr snapToGrid="0">
      <p:cViewPr varScale="1">
        <p:scale>
          <a:sx n="71" d="100"/>
          <a:sy n="71" d="100"/>
        </p:scale>
        <p:origin x="1291"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4AD764E-90B5-3D5C-4339-C35D8877853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B221ACFE-D932-E912-2FAA-15EB4F5308D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8821BD-FBDD-4899-8C12-86004D2C4B56}" type="datetimeFigureOut">
              <a:rPr lang="fr-FR" smtClean="0"/>
              <a:t>07/07/2023</a:t>
            </a:fld>
            <a:endParaRPr lang="fr-FR"/>
          </a:p>
        </p:txBody>
      </p:sp>
      <p:sp>
        <p:nvSpPr>
          <p:cNvPr id="4" name="Espace réservé du pied de page 3">
            <a:extLst>
              <a:ext uri="{FF2B5EF4-FFF2-40B4-BE49-F238E27FC236}">
                <a16:creationId xmlns:a16="http://schemas.microsoft.com/office/drawing/2014/main" id="{29054BA8-9498-E2D4-945A-58632F69C83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22102139-D8A6-88D7-6BE5-3EF16B429E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94DD811-ED8B-419B-B475-2C940428E631}" type="slidenum">
              <a:rPr lang="fr-FR" smtClean="0"/>
              <a:t>‹N°›</a:t>
            </a:fld>
            <a:endParaRPr lang="fr-FR"/>
          </a:p>
        </p:txBody>
      </p:sp>
    </p:spTree>
    <p:extLst>
      <p:ext uri="{BB962C8B-B14F-4D97-AF65-F5344CB8AC3E}">
        <p14:creationId xmlns:p14="http://schemas.microsoft.com/office/powerpoint/2010/main" val="349231853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338E75-51D3-445B-831A-57EC07B0D9CF}" type="datetimeFigureOut">
              <a:rPr lang="fr-FR" smtClean="0"/>
              <a:t>07/07/2023</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11033E-20D5-44C0-99FB-805379C23B5B}" type="slidenum">
              <a:rPr lang="fr-FR" smtClean="0"/>
              <a:t>‹N°›</a:t>
            </a:fld>
            <a:endParaRPr lang="fr-FR"/>
          </a:p>
        </p:txBody>
      </p:sp>
    </p:spTree>
    <p:extLst>
      <p:ext uri="{BB962C8B-B14F-4D97-AF65-F5344CB8AC3E}">
        <p14:creationId xmlns:p14="http://schemas.microsoft.com/office/powerpoint/2010/main" val="230086371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311033E-20D5-44C0-99FB-805379C23B5B}" type="slidenum">
              <a:rPr lang="fr-FR" smtClean="0"/>
              <a:t>3</a:t>
            </a:fld>
            <a:endParaRPr lang="fr-FR"/>
          </a:p>
        </p:txBody>
      </p:sp>
    </p:spTree>
    <p:extLst>
      <p:ext uri="{BB962C8B-B14F-4D97-AF65-F5344CB8AC3E}">
        <p14:creationId xmlns:p14="http://schemas.microsoft.com/office/powerpoint/2010/main" val="1687110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5311033E-20D5-44C0-99FB-805379C23B5B}" type="slidenum">
              <a:rPr lang="fr-FR" smtClean="0"/>
              <a:t>17</a:t>
            </a:fld>
            <a:endParaRPr lang="fr-FR"/>
          </a:p>
        </p:txBody>
      </p:sp>
    </p:spTree>
    <p:extLst>
      <p:ext uri="{BB962C8B-B14F-4D97-AF65-F5344CB8AC3E}">
        <p14:creationId xmlns:p14="http://schemas.microsoft.com/office/powerpoint/2010/main" val="3609673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Sysmon est un utilitaire de Microsoft qui est très utile dans la sécurité informatique car elle permet de surveiller et </a:t>
            </a:r>
            <a:r>
              <a:rPr lang="fr-FR" dirty="0" err="1"/>
              <a:t>enrégister</a:t>
            </a:r>
            <a:r>
              <a:rPr lang="fr-FR" dirty="0"/>
              <a:t> les événements de sécurité d’un </a:t>
            </a:r>
            <a:r>
              <a:rPr lang="fr-FR" dirty="0" err="1"/>
              <a:t>sys</a:t>
            </a:r>
            <a:r>
              <a:rPr lang="fr-FR" dirty="0"/>
              <a:t> explo Win</a:t>
            </a:r>
          </a:p>
        </p:txBody>
      </p:sp>
      <p:sp>
        <p:nvSpPr>
          <p:cNvPr id="4" name="Espace réservé du numéro de diapositive 3"/>
          <p:cNvSpPr>
            <a:spLocks noGrp="1"/>
          </p:cNvSpPr>
          <p:nvPr>
            <p:ph type="sldNum" sz="quarter" idx="5"/>
          </p:nvPr>
        </p:nvSpPr>
        <p:spPr/>
        <p:txBody>
          <a:bodyPr/>
          <a:lstStyle/>
          <a:p>
            <a:fld id="{5311033E-20D5-44C0-99FB-805379C23B5B}" type="slidenum">
              <a:rPr lang="fr-FR" smtClean="0"/>
              <a:t>18</a:t>
            </a:fld>
            <a:endParaRPr lang="fr-FR"/>
          </a:p>
        </p:txBody>
      </p:sp>
    </p:spTree>
    <p:extLst>
      <p:ext uri="{BB962C8B-B14F-4D97-AF65-F5344CB8AC3E}">
        <p14:creationId xmlns:p14="http://schemas.microsoft.com/office/powerpoint/2010/main" val="2408328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Mimikatz est conçu pour extraire les informations d'identification, telles que les mots de passe en clair et les clés d'authentification, à partir de la mémoire d'un système Windows.</a:t>
            </a:r>
          </a:p>
          <a:p>
            <a:endParaRPr lang="fr-FR" dirty="0"/>
          </a:p>
        </p:txBody>
      </p:sp>
      <p:sp>
        <p:nvSpPr>
          <p:cNvPr id="4" name="Espace réservé du numéro de diapositive 3"/>
          <p:cNvSpPr>
            <a:spLocks noGrp="1"/>
          </p:cNvSpPr>
          <p:nvPr>
            <p:ph type="sldNum" sz="quarter" idx="5"/>
          </p:nvPr>
        </p:nvSpPr>
        <p:spPr/>
        <p:txBody>
          <a:bodyPr/>
          <a:lstStyle/>
          <a:p>
            <a:fld id="{5311033E-20D5-44C0-99FB-805379C23B5B}" type="slidenum">
              <a:rPr lang="fr-FR" smtClean="0"/>
              <a:t>19</a:t>
            </a:fld>
            <a:endParaRPr lang="fr-FR"/>
          </a:p>
        </p:txBody>
      </p:sp>
    </p:spTree>
    <p:extLst>
      <p:ext uri="{BB962C8B-B14F-4D97-AF65-F5344CB8AC3E}">
        <p14:creationId xmlns:p14="http://schemas.microsoft.com/office/powerpoint/2010/main" val="420162946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fr-FR"/>
              <a:t>Modifiez le style du titre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8F4A2611-0B26-499B-8FF6-52A750F2300B}" type="datetime1">
              <a:rPr lang="fr-FR" smtClean="0"/>
              <a:t>07/07/2023</a:t>
            </a:fld>
            <a:endParaRPr lang="fr-FR"/>
          </a:p>
        </p:txBody>
      </p:sp>
      <p:sp>
        <p:nvSpPr>
          <p:cNvPr id="5" name="Footer Placeholder 4"/>
          <p:cNvSpPr>
            <a:spLocks noGrp="1"/>
          </p:cNvSpPr>
          <p:nvPr>
            <p:ph type="ftr" sz="quarter" idx="11"/>
          </p:nvPr>
        </p:nvSpPr>
        <p:spPr>
          <a:xfrm>
            <a:off x="2692397" y="5037663"/>
            <a:ext cx="5214635" cy="279400"/>
          </a:xfrm>
        </p:spPr>
        <p:txBody>
          <a:bodyPr/>
          <a:lstStyle/>
          <a:p>
            <a:endParaRPr lang="fr-FR"/>
          </a:p>
        </p:txBody>
      </p:sp>
      <p:sp>
        <p:nvSpPr>
          <p:cNvPr id="6" name="Slide Number Placeholder 5"/>
          <p:cNvSpPr>
            <a:spLocks noGrp="1"/>
          </p:cNvSpPr>
          <p:nvPr>
            <p:ph type="sldNum" sz="quarter" idx="12"/>
          </p:nvPr>
        </p:nvSpPr>
        <p:spPr>
          <a:xfrm>
            <a:off x="8956900" y="5037663"/>
            <a:ext cx="551167" cy="279400"/>
          </a:xfrm>
        </p:spPr>
        <p:txBody>
          <a:bodyPr/>
          <a:lstStyle/>
          <a:p>
            <a:fld id="{CF61F438-8138-45E7-89D7-489A5C6A0ED8}" type="slidenum">
              <a:rPr lang="fr-FR" smtClean="0"/>
              <a:t>‹N°›</a:t>
            </a:fld>
            <a:endParaRPr lang="fr-FR"/>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443828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9052D6D-A9B8-4E2B-8568-EFAF223CB3CE}"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spTree>
    <p:extLst>
      <p:ext uri="{BB962C8B-B14F-4D97-AF65-F5344CB8AC3E}">
        <p14:creationId xmlns:p14="http://schemas.microsoft.com/office/powerpoint/2010/main" val="223420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fr-FR"/>
              <a:t>Modifiez le style du titre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32A7B97-ACF3-4B44-979B-1725CFCFA509}"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697561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D3B658A9-14BE-4AF7-9CC8-455DC3A34444}" type="datetime1">
              <a:rPr lang="fr-FR" smtClean="0"/>
              <a:t>07/07/2023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F61F438-8138-45E7-89D7-489A5C6A0ED8}" type="slidenum">
              <a:rPr lang="fr-FR" smtClean="0"/>
              <a:t>‹N°›</a:t>
            </a:fld>
            <a:endParaRPr lang="fr-FR"/>
          </a:p>
        </p:txBody>
      </p:sp>
    </p:spTree>
    <p:extLst>
      <p:ext uri="{BB962C8B-B14F-4D97-AF65-F5344CB8AC3E}">
        <p14:creationId xmlns:p14="http://schemas.microsoft.com/office/powerpoint/2010/main" val="31593979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A820699E-850D-4802-8161-A12D534099D1}" type="datetime1">
              <a:rPr lang="fr-FR" smtClean="0"/>
              <a:t>07/07/2023</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CF61F438-8138-45E7-89D7-489A5C6A0ED8}" type="slidenum">
              <a:rPr lang="fr-FR" smtClean="0"/>
              <a:t>‹N°›</a:t>
            </a:fld>
            <a:endParaRPr lang="fr-FR"/>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69680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711D098E-165F-4F24-9B39-A0B1820F1236}" type="datetime1">
              <a:rPr lang="fr-FR" smtClean="0"/>
              <a:t>07/07/2023</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CF61F438-8138-45E7-89D7-489A5C6A0ED8}" type="slidenum">
              <a:rPr lang="fr-FR" smtClean="0"/>
              <a:t>‹N°›</a:t>
            </a:fld>
            <a:endParaRPr lang="fr-FR"/>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7326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12800B-46FE-4112-B39F-04841B514D30}" type="datetime1">
              <a:rPr lang="fr-FR" smtClean="0"/>
              <a:t>07/07/2023</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CF61F438-8138-45E7-89D7-489A5C6A0ED8}" type="slidenum">
              <a:rPr lang="fr-FR" smtClean="0"/>
              <a:t>‹N°›</a:t>
            </a:fld>
            <a:endParaRPr lang="fr-FR"/>
          </a:p>
        </p:txBody>
      </p:sp>
    </p:spTree>
    <p:extLst>
      <p:ext uri="{BB962C8B-B14F-4D97-AF65-F5344CB8AC3E}">
        <p14:creationId xmlns:p14="http://schemas.microsoft.com/office/powerpoint/2010/main" val="3018975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fr-FR"/>
              <a:t>Modifiez le style du titre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455FF327-6BD2-4BD7-AA08-AC8F0A723862}" type="datetime1">
              <a:rPr lang="fr-FR" smtClean="0"/>
              <a:t>07/07/2023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F61F438-8138-45E7-89D7-489A5C6A0ED8}" type="slidenum">
              <a:rPr lang="fr-FR" smtClean="0"/>
              <a:t>‹N°›</a:t>
            </a:fld>
            <a:endParaRPr lang="fr-FR"/>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61381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fr-FR"/>
              <a:t>Modifiez le style du titre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AD4A5E95-D342-47A7-B52C-9913A3D0A502}" type="datetime1">
              <a:rPr lang="fr-FR" smtClean="0"/>
              <a:t>07/07/2023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F61F438-8138-45E7-89D7-489A5C6A0ED8}" type="slidenum">
              <a:rPr lang="fr-FR" smtClean="0"/>
              <a:t>‹N°›</a:t>
            </a:fld>
            <a:endParaRPr lang="fr-FR"/>
          </a:p>
        </p:txBody>
      </p:sp>
    </p:spTree>
    <p:extLst>
      <p:ext uri="{BB962C8B-B14F-4D97-AF65-F5344CB8AC3E}">
        <p14:creationId xmlns:p14="http://schemas.microsoft.com/office/powerpoint/2010/main" val="2004965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DCADEF0F-12A5-47B5-9432-AF7B665E2971}" type="datetime1">
              <a:rPr lang="fr-FR" smtClean="0"/>
              <a:t>07/07/2023</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CF61F438-8138-45E7-89D7-489A5C6A0ED8}" type="slidenum">
              <a:rPr lang="fr-FR" smtClean="0"/>
              <a:t>‹N°›</a:t>
            </a:fld>
            <a:endParaRPr lang="fr-FR"/>
          </a:p>
        </p:txBody>
      </p:sp>
    </p:spTree>
    <p:extLst>
      <p:ext uri="{BB962C8B-B14F-4D97-AF65-F5344CB8AC3E}">
        <p14:creationId xmlns:p14="http://schemas.microsoft.com/office/powerpoint/2010/main" val="1510978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898A13F5-DA72-40EF-A0AF-5C6426560323}"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32438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78514166-4D12-4399-A381-661F7BA87DD8}"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83257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fr-FR"/>
              <a:t>Modifiez le style du titre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272AEFFE-EBE1-4A92-A8F4-4A2B84BBC6D6}"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spTree>
    <p:extLst>
      <p:ext uri="{BB962C8B-B14F-4D97-AF65-F5344CB8AC3E}">
        <p14:creationId xmlns:p14="http://schemas.microsoft.com/office/powerpoint/2010/main" val="38885007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fr-FR"/>
              <a:t>Modifiez le style du titre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35B951B-D17F-4ED8-8BAA-1C9939CF804A}"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80567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fr-FR"/>
              <a:t>Modifiez le style du titre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E2844691-0C6D-4A71-8D1D-D7F191849FC2}"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08943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79B54F54-174F-46AB-8020-A62628640CC7}"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477395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89F675A6-1958-4278-8DED-ECC03673458C}" type="datetime1">
              <a:rPr lang="fr-FR" smtClean="0"/>
              <a:t>07/07/2023</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CF61F438-8138-45E7-89D7-489A5C6A0ED8}" type="slidenum">
              <a:rPr lang="fr-FR" smtClean="0"/>
              <a:t>‹N°›</a:t>
            </a:fld>
            <a:endParaRPr lang="fr-FR"/>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5123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2A04478-9E14-4200-8A38-C55121FE93FF}" type="datetime1">
              <a:rPr lang="fr-FR" smtClean="0"/>
              <a:t>07/07/2023</a:t>
            </a:fld>
            <a:endParaRPr lang="fr-F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fr-F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F61F438-8138-45E7-89D7-489A5C6A0ED8}" type="slidenum">
              <a:rPr lang="fr-FR" smtClean="0"/>
              <a:t>‹N°›</a:t>
            </a:fld>
            <a:endParaRPr lang="fr-FR"/>
          </a:p>
        </p:txBody>
      </p:sp>
    </p:spTree>
    <p:extLst>
      <p:ext uri="{BB962C8B-B14F-4D97-AF65-F5344CB8AC3E}">
        <p14:creationId xmlns:p14="http://schemas.microsoft.com/office/powerpoint/2010/main" val="3207041071"/>
      </p:ext>
    </p:extLst>
  </p:cSld>
  <p:clrMap bg1="lt1" tx1="dk1" bg2="lt2" tx2="dk2" accent1="accent1" accent2="accent2" accent3="accent3" accent4="accent4" accent5="accent5" accent6="accent6" hlink="hlink" folHlink="folHlink"/>
  <p:sldLayoutIdLst>
    <p:sldLayoutId id="2147483931" r:id="rId1"/>
    <p:sldLayoutId id="2147483932" r:id="rId2"/>
    <p:sldLayoutId id="2147483933" r:id="rId3"/>
    <p:sldLayoutId id="2147483934" r:id="rId4"/>
    <p:sldLayoutId id="2147483935" r:id="rId5"/>
    <p:sldLayoutId id="2147483936" r:id="rId6"/>
    <p:sldLayoutId id="2147483937" r:id="rId7"/>
    <p:sldLayoutId id="2147483938" r:id="rId8"/>
    <p:sldLayoutId id="2147483939" r:id="rId9"/>
    <p:sldLayoutId id="2147483940" r:id="rId10"/>
    <p:sldLayoutId id="2147483941" r:id="rId11"/>
    <p:sldLayoutId id="2147483942" r:id="rId12"/>
    <p:sldLayoutId id="2147483943" r:id="rId13"/>
    <p:sldLayoutId id="2147483944" r:id="rId14"/>
    <p:sldLayoutId id="2147483945" r:id="rId15"/>
    <p:sldLayoutId id="2147483946" r:id="rId16"/>
    <p:sldLayoutId id="2147483947" r:id="rId17"/>
  </p:sldLayoutIdLst>
  <p:hf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Image 4" descr="E:\Latex\logo_ucad.jpg">
            <a:extLst>
              <a:ext uri="{FF2B5EF4-FFF2-40B4-BE49-F238E27FC236}">
                <a16:creationId xmlns:a16="http://schemas.microsoft.com/office/drawing/2014/main" id="{CD47990D-E826-B412-DE8B-A51122F398E0}"/>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5880" y="356171"/>
            <a:ext cx="1042416" cy="1017461"/>
          </a:xfrm>
          <a:prstGeom prst="rect">
            <a:avLst/>
          </a:prstGeom>
          <a:noFill/>
          <a:ln>
            <a:noFill/>
          </a:ln>
        </p:spPr>
      </p:pic>
      <p:sp>
        <p:nvSpPr>
          <p:cNvPr id="6" name="Rectangle 5">
            <a:extLst>
              <a:ext uri="{FF2B5EF4-FFF2-40B4-BE49-F238E27FC236}">
                <a16:creationId xmlns:a16="http://schemas.microsoft.com/office/drawing/2014/main" id="{0EA34F04-2171-7A82-2F6E-1D91016A61F7}"/>
              </a:ext>
            </a:extLst>
          </p:cNvPr>
          <p:cNvSpPr/>
          <p:nvPr/>
        </p:nvSpPr>
        <p:spPr>
          <a:xfrm>
            <a:off x="146304" y="1699450"/>
            <a:ext cx="3401568" cy="12076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14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Université Cheikh Anta DIOP de Dakar</a:t>
            </a:r>
            <a:endParaRPr lang="fr-FR" dirty="0">
              <a:effectLst/>
              <a:ea typeface="Calibri" panose="020F0502020204030204" pitchFamily="34" charset="0"/>
              <a:cs typeface="Times New Roman" panose="02020603050405020304" pitchFamily="18" charset="0"/>
            </a:endParaRPr>
          </a:p>
          <a:p>
            <a:pPr algn="ctr">
              <a:lnSpc>
                <a:spcPct val="107000"/>
              </a:lnSpc>
              <a:spcAft>
                <a:spcPts val="800"/>
              </a:spcAft>
            </a:pPr>
            <a:r>
              <a:rPr lang="fr-FR" sz="14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Faculté des Sciences et Techniques</a:t>
            </a:r>
            <a:endParaRPr lang="fr-FR" dirty="0">
              <a:effectLst/>
              <a:ea typeface="Calibri" panose="020F0502020204030204" pitchFamily="34" charset="0"/>
              <a:cs typeface="Times New Roman" panose="02020603050405020304" pitchFamily="18" charset="0"/>
            </a:endParaRPr>
          </a:p>
          <a:p>
            <a:pPr algn="ctr">
              <a:lnSpc>
                <a:spcPct val="107000"/>
              </a:lnSpc>
              <a:spcAft>
                <a:spcPts val="800"/>
              </a:spcAft>
            </a:pPr>
            <a:r>
              <a:rPr lang="fr-FR" sz="14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Département Mathématiques et Informatique</a:t>
            </a:r>
            <a:endParaRPr lang="fr-FR" dirty="0">
              <a:effectLst/>
              <a:ea typeface="Calibri" panose="020F0502020204030204" pitchFamily="34" charset="0"/>
              <a:cs typeface="Times New Roman" panose="02020603050405020304" pitchFamily="18" charset="0"/>
            </a:endParaRPr>
          </a:p>
          <a:p>
            <a:pPr algn="ctr">
              <a:lnSpc>
                <a:spcPct val="107000"/>
              </a:lnSpc>
              <a:spcAft>
                <a:spcPts val="800"/>
              </a:spcAft>
            </a:pPr>
            <a:r>
              <a:rPr lang="fr-FR" sz="105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fr-FR" dirty="0">
              <a:effectLst/>
              <a:ea typeface="Calibri" panose="020F0502020204030204" pitchFamily="34" charset="0"/>
              <a:cs typeface="Times New Roman" panose="02020603050405020304" pitchFamily="18" charset="0"/>
            </a:endParaRPr>
          </a:p>
        </p:txBody>
      </p:sp>
      <p:pic>
        <p:nvPicPr>
          <p:cNvPr id="7" name="Image 6" descr="E:\Latex\logo_lacgaa.jpg">
            <a:extLst>
              <a:ext uri="{FF2B5EF4-FFF2-40B4-BE49-F238E27FC236}">
                <a16:creationId xmlns:a16="http://schemas.microsoft.com/office/drawing/2014/main" id="{4FED4639-F4B8-B4CC-B6DC-2C553949DA8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9904473" y="431101"/>
            <a:ext cx="1056323" cy="1017461"/>
          </a:xfrm>
          <a:prstGeom prst="rect">
            <a:avLst/>
          </a:prstGeom>
          <a:noFill/>
          <a:ln>
            <a:noFill/>
          </a:ln>
        </p:spPr>
      </p:pic>
      <p:sp>
        <p:nvSpPr>
          <p:cNvPr id="8" name="Rectangle 7">
            <a:extLst>
              <a:ext uri="{FF2B5EF4-FFF2-40B4-BE49-F238E27FC236}">
                <a16:creationId xmlns:a16="http://schemas.microsoft.com/office/drawing/2014/main" id="{D62BAD8A-B756-1C51-2017-4DA8A068DD3A}"/>
              </a:ext>
            </a:extLst>
          </p:cNvPr>
          <p:cNvSpPr/>
          <p:nvPr/>
        </p:nvSpPr>
        <p:spPr>
          <a:xfrm>
            <a:off x="8831766" y="1700974"/>
            <a:ext cx="3201738" cy="9324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15000"/>
              </a:lnSpc>
              <a:spcAft>
                <a:spcPts val="800"/>
              </a:spcAft>
            </a:pPr>
            <a:r>
              <a:rPr lang="fr-FR" sz="14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Laboratoire d’Algèbre de Cryptologie de Géométrie Algébrique et Applications</a:t>
            </a:r>
            <a:endParaRPr lang="fr-FR" dirty="0">
              <a:effectLst/>
              <a:ea typeface="Calibri" panose="020F0502020204030204" pitchFamily="34" charset="0"/>
              <a:cs typeface="Times New Roman" panose="02020603050405020304" pitchFamily="18" charset="0"/>
            </a:endParaRPr>
          </a:p>
          <a:p>
            <a:pPr algn="ctr">
              <a:lnSpc>
                <a:spcPct val="107000"/>
              </a:lnSpc>
              <a:spcAft>
                <a:spcPts val="800"/>
              </a:spcAft>
            </a:pPr>
            <a:r>
              <a:rPr lang="fr-FR" sz="14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LACGAA </a:t>
            </a:r>
            <a:endParaRPr lang="fr-FR" dirty="0">
              <a:effectLst/>
              <a:ea typeface="Calibri" panose="020F0502020204030204" pitchFamily="34" charset="0"/>
              <a:cs typeface="Times New Roman" panose="02020603050405020304" pitchFamily="18" charset="0"/>
            </a:endParaRPr>
          </a:p>
        </p:txBody>
      </p:sp>
      <p:sp>
        <p:nvSpPr>
          <p:cNvPr id="9" name="Sous-titre 13">
            <a:extLst>
              <a:ext uri="{FF2B5EF4-FFF2-40B4-BE49-F238E27FC236}">
                <a16:creationId xmlns:a16="http://schemas.microsoft.com/office/drawing/2014/main" id="{95029B5A-0A1B-2391-9982-630E742F43C8}"/>
              </a:ext>
            </a:extLst>
          </p:cNvPr>
          <p:cNvSpPr txBox="1">
            <a:spLocks/>
          </p:cNvSpPr>
          <p:nvPr/>
        </p:nvSpPr>
        <p:spPr>
          <a:xfrm>
            <a:off x="1542288" y="2717257"/>
            <a:ext cx="9144000" cy="630936"/>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lt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lt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lt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lt1"/>
                </a:solidFill>
                <a:latin typeface="+mn-lt"/>
                <a:ea typeface="+mn-ea"/>
                <a:cs typeface="+mn-cs"/>
              </a:defRPr>
            </a:lvl9pPr>
          </a:lstStyle>
          <a:p>
            <a:pPr>
              <a:lnSpc>
                <a:spcPct val="107000"/>
              </a:lnSpc>
              <a:spcAft>
                <a:spcPts val="800"/>
              </a:spcAft>
            </a:pPr>
            <a:r>
              <a:rPr lang="fr-FR" sz="2800" dirty="0">
                <a:solidFill>
                  <a:srgbClr val="002060"/>
                </a:solidFill>
                <a:latin typeface="Script MT Bold" panose="03040602040607080904" pitchFamily="66" charset="0"/>
                <a:ea typeface="Calibri" panose="020F0502020204030204" pitchFamily="34" charset="0"/>
                <a:cs typeface="Times New Roman" panose="02020603050405020304" pitchFamily="18" charset="0"/>
              </a:rPr>
              <a:t>Master Transmission de Données et Sécurité de l’Information</a:t>
            </a:r>
            <a:endParaRPr lang="fr-FR" sz="1600" dirty="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B2D33E05-76EB-0657-C13D-EAE15E444609}"/>
              </a:ext>
            </a:extLst>
          </p:cNvPr>
          <p:cNvSpPr/>
          <p:nvPr/>
        </p:nvSpPr>
        <p:spPr>
          <a:xfrm>
            <a:off x="5175504" y="3203639"/>
            <a:ext cx="1627632" cy="5238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28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Thème :</a:t>
            </a:r>
            <a:endParaRPr lang="fr-FR" sz="1400" dirty="0">
              <a:effectLst/>
              <a:ea typeface="Calibri" panose="020F0502020204030204" pitchFamily="34" charset="0"/>
              <a:cs typeface="Times New Roman" panose="02020603050405020304" pitchFamily="18" charset="0"/>
            </a:endParaRPr>
          </a:p>
        </p:txBody>
      </p:sp>
      <p:sp>
        <p:nvSpPr>
          <p:cNvPr id="11" name="Arrondir un rectangle avec un coin diagonal 15">
            <a:extLst>
              <a:ext uri="{FF2B5EF4-FFF2-40B4-BE49-F238E27FC236}">
                <a16:creationId xmlns:a16="http://schemas.microsoft.com/office/drawing/2014/main" id="{6C3107E7-E668-1886-BD19-338C5AFC2905}"/>
              </a:ext>
            </a:extLst>
          </p:cNvPr>
          <p:cNvSpPr/>
          <p:nvPr/>
        </p:nvSpPr>
        <p:spPr>
          <a:xfrm>
            <a:off x="1652016" y="3689403"/>
            <a:ext cx="8674608" cy="1381125"/>
          </a:xfrm>
          <a:prstGeom prst="round2DiagRect">
            <a:avLst/>
          </a:prstGeom>
          <a:solidFill>
            <a:schemeClr val="bg1">
              <a:lumMod val="95000"/>
            </a:schemeClr>
          </a:solidFill>
          <a:ln w="57150">
            <a:solidFill>
              <a:schemeClr val="tx1">
                <a:lumMod val="50000"/>
                <a:lumOff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fr-FR" sz="3600" dirty="0">
                <a:solidFill>
                  <a:srgbClr val="002060"/>
                </a:solidFill>
                <a:effectLst/>
                <a:latin typeface="Agency FB" panose="020B0503020202020204" pitchFamily="34" charset="0"/>
                <a:ea typeface="Calibri" panose="020F0502020204030204" pitchFamily="34" charset="0"/>
                <a:cs typeface="Times New Roman" panose="02020603050405020304" pitchFamily="18" charset="0"/>
              </a:rPr>
              <a:t>Étude et </a:t>
            </a:r>
            <a:r>
              <a:rPr lang="fr-FR" sz="3600" dirty="0">
                <a:solidFill>
                  <a:srgbClr val="002060"/>
                </a:solidFill>
                <a:latin typeface="Agency FB" panose="020B0503020202020204" pitchFamily="34" charset="0"/>
                <a:ea typeface="Calibri" panose="020F0502020204030204" pitchFamily="34" charset="0"/>
                <a:cs typeface="Times New Roman" panose="02020603050405020304" pitchFamily="18" charset="0"/>
              </a:rPr>
              <a:t>m</a:t>
            </a:r>
            <a:r>
              <a:rPr lang="fr-FR" sz="3600" dirty="0">
                <a:solidFill>
                  <a:srgbClr val="002060"/>
                </a:solidFill>
                <a:effectLst/>
                <a:latin typeface="Agency FB" panose="020B0503020202020204" pitchFamily="34" charset="0"/>
                <a:ea typeface="Calibri" panose="020F0502020204030204" pitchFamily="34" charset="0"/>
                <a:cs typeface="Times New Roman" panose="02020603050405020304" pitchFamily="18" charset="0"/>
              </a:rPr>
              <a:t>ise en place d’une solution de sécurité basée sur la gestion centralisée des logs et des événements</a:t>
            </a:r>
            <a:endParaRPr lang="fr-FR" sz="1100" dirty="0">
              <a:effectLst/>
              <a:ea typeface="Calibri" panose="020F0502020204030204" pitchFamily="34" charset="0"/>
              <a:cs typeface="Times New Roman" panose="02020603050405020304" pitchFamily="18" charset="0"/>
            </a:endParaRPr>
          </a:p>
        </p:txBody>
      </p:sp>
      <p:sp>
        <p:nvSpPr>
          <p:cNvPr id="12" name="Rectangle 11">
            <a:extLst>
              <a:ext uri="{FF2B5EF4-FFF2-40B4-BE49-F238E27FC236}">
                <a16:creationId xmlns:a16="http://schemas.microsoft.com/office/drawing/2014/main" id="{476BA4CA-5328-0512-BB24-3B83135818F2}"/>
              </a:ext>
            </a:extLst>
          </p:cNvPr>
          <p:cNvSpPr/>
          <p:nvPr/>
        </p:nvSpPr>
        <p:spPr>
          <a:xfrm>
            <a:off x="394475" y="5393423"/>
            <a:ext cx="3401568" cy="9888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0"/>
              </a:spcAft>
            </a:pPr>
            <a:r>
              <a:rPr lang="fr-FR" sz="16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Présenté et soutenu par:</a:t>
            </a: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07000"/>
              </a:lnSpc>
              <a:spcAft>
                <a:spcPts val="0"/>
              </a:spcAft>
            </a:pPr>
            <a:r>
              <a:rPr lang="fr-FR" sz="16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M. </a:t>
            </a:r>
            <a:r>
              <a:rPr lang="fr-FR" sz="16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Pathé Djibril DIOUF</a:t>
            </a: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Rectangle 12">
            <a:extLst>
              <a:ext uri="{FF2B5EF4-FFF2-40B4-BE49-F238E27FC236}">
                <a16:creationId xmlns:a16="http://schemas.microsoft.com/office/drawing/2014/main" id="{9AAE03D3-4F1E-FA1C-FA36-BE9FEA39072D}"/>
              </a:ext>
            </a:extLst>
          </p:cNvPr>
          <p:cNvSpPr/>
          <p:nvPr/>
        </p:nvSpPr>
        <p:spPr>
          <a:xfrm>
            <a:off x="9163917" y="5511627"/>
            <a:ext cx="2537434" cy="752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nSpc>
                <a:spcPct val="107000"/>
              </a:lnSpc>
              <a:spcAft>
                <a:spcPts val="0"/>
              </a:spcAft>
            </a:pPr>
            <a:r>
              <a:rPr lang="fr-FR" sz="16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Sous la direction de: </a:t>
            </a:r>
          </a:p>
          <a:p>
            <a:pPr>
              <a:lnSpc>
                <a:spcPct val="107000"/>
              </a:lnSpc>
              <a:spcAft>
                <a:spcPts val="0"/>
              </a:spcAft>
            </a:pPr>
            <a:r>
              <a:rPr lang="fr-FR" sz="1600" dirty="0">
                <a:solidFill>
                  <a:srgbClr val="002060"/>
                </a:solidFill>
                <a:latin typeface="Times New Roman" panose="02020603050405020304" pitchFamily="18" charset="0"/>
                <a:ea typeface="Calibri" panose="020F0502020204030204" pitchFamily="34" charset="0"/>
                <a:cs typeface="Times New Roman" panose="02020603050405020304" pitchFamily="18" charset="0"/>
              </a:rPr>
              <a:t>Dr</a:t>
            </a:r>
            <a:r>
              <a:rPr lang="fr-FR" sz="1600"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 Abdoulaye THIOUNE &amp; M. Ibrahima DIAW</a:t>
            </a:r>
            <a:endParaRPr lang="fr-FR"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Rectangle 13">
            <a:extLst>
              <a:ext uri="{FF2B5EF4-FFF2-40B4-BE49-F238E27FC236}">
                <a16:creationId xmlns:a16="http://schemas.microsoft.com/office/drawing/2014/main" id="{F4FB1E43-D6EF-982B-586A-0421E2A5CD0A}"/>
              </a:ext>
            </a:extLst>
          </p:cNvPr>
          <p:cNvSpPr/>
          <p:nvPr/>
        </p:nvSpPr>
        <p:spPr>
          <a:xfrm>
            <a:off x="4270248" y="6134658"/>
            <a:ext cx="3438144" cy="4953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0"/>
              </a:spcAft>
            </a:pPr>
            <a:r>
              <a:rPr lang="fr-FR" b="1"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Année Académique 2021 – 2022</a:t>
            </a:r>
            <a:endParaRPr lang="fr-FR" sz="14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41654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0FDEA6-EF82-C55F-7AB7-8E7E688B1E51}"/>
              </a:ext>
            </a:extLst>
          </p:cNvPr>
          <p:cNvSpPr>
            <a:spLocks noGrp="1"/>
          </p:cNvSpPr>
          <p:nvPr>
            <p:ph type="title"/>
          </p:nvPr>
        </p:nvSpPr>
        <p:spPr>
          <a:xfrm>
            <a:off x="4330925" y="399082"/>
            <a:ext cx="3657784" cy="621795"/>
          </a:xfrm>
        </p:spPr>
        <p:txBody>
          <a:bodyPr>
            <a:noAutofit/>
          </a:bodyPr>
          <a:lstStyle/>
          <a:p>
            <a:pPr algn="l"/>
            <a:r>
              <a:rPr lang="fr-FR" sz="4000" b="1" u="sng" dirty="0">
                <a:solidFill>
                  <a:schemeClr val="accent3"/>
                </a:solidFill>
              </a:rPr>
              <a:t>SOMMAIRE</a:t>
            </a:r>
          </a:p>
        </p:txBody>
      </p:sp>
      <p:sp>
        <p:nvSpPr>
          <p:cNvPr id="3" name="Espace réservé du contenu 2">
            <a:extLst>
              <a:ext uri="{FF2B5EF4-FFF2-40B4-BE49-F238E27FC236}">
                <a16:creationId xmlns:a16="http://schemas.microsoft.com/office/drawing/2014/main" id="{0160DAE5-285A-CF8D-5F6D-C40D93A367A6}"/>
              </a:ext>
            </a:extLst>
          </p:cNvPr>
          <p:cNvSpPr>
            <a:spLocks noGrp="1"/>
          </p:cNvSpPr>
          <p:nvPr>
            <p:ph idx="1"/>
          </p:nvPr>
        </p:nvSpPr>
        <p:spPr>
          <a:xfrm>
            <a:off x="2197417" y="1357917"/>
            <a:ext cx="7797165" cy="4142166"/>
          </a:xfrm>
          <a:noFill/>
          <a:ln>
            <a:noFill/>
          </a:ln>
        </p:spPr>
        <p:txBody>
          <a:bodyPr>
            <a:normAutofit/>
          </a:bodyPr>
          <a:lstStyle/>
          <a:p>
            <a:pPr marL="0" indent="0">
              <a:buClrTx/>
              <a:buNone/>
            </a:pPr>
            <a:r>
              <a:rPr lang="fr-FR" b="1" dirty="0"/>
              <a:t>INTRODUCTION</a:t>
            </a:r>
          </a:p>
          <a:p>
            <a:pPr marL="0" indent="0">
              <a:buClrTx/>
              <a:buNone/>
            </a:pPr>
            <a:r>
              <a:rPr lang="fr-FR" b="1" dirty="0"/>
              <a:t>OBJECTIFS DE L’ÉTUDE</a:t>
            </a:r>
          </a:p>
          <a:p>
            <a:pPr marL="0" indent="0">
              <a:buClrTx/>
              <a:buNone/>
            </a:pPr>
            <a:r>
              <a:rPr lang="fr-FR" b="1" dirty="0"/>
              <a:t>LA SÉCURITÉ INFORMATIQUE</a:t>
            </a:r>
          </a:p>
          <a:p>
            <a:pPr marL="0" indent="0">
              <a:buClrTx/>
              <a:buNone/>
            </a:pPr>
            <a:r>
              <a:rPr lang="fr-FR" b="1" dirty="0"/>
              <a:t>ANALYSE DES SIEM</a:t>
            </a:r>
          </a:p>
          <a:p>
            <a:pPr marL="0" indent="0">
              <a:buClr>
                <a:schemeClr val="tx1"/>
              </a:buClr>
              <a:buNone/>
            </a:pPr>
            <a:r>
              <a:rPr lang="fr-FR" b="1" dirty="0"/>
              <a:t>MISE EN PLACE D’UN SIEM</a:t>
            </a:r>
          </a:p>
          <a:p>
            <a:pPr marL="0" indent="0">
              <a:buClr>
                <a:schemeClr val="tx1"/>
              </a:buClr>
              <a:buNone/>
            </a:pPr>
            <a:r>
              <a:rPr lang="fr-FR" b="1" dirty="0"/>
              <a:t>PRÉSENTATION DE LA SOLUTION WAZUH</a:t>
            </a:r>
          </a:p>
          <a:p>
            <a:pPr marL="0" indent="0">
              <a:buClr>
                <a:schemeClr val="tx1"/>
              </a:buClr>
              <a:buNone/>
            </a:pPr>
            <a:r>
              <a:rPr lang="fr-FR" b="1" dirty="0"/>
              <a:t>MISE EN ŒUVRE</a:t>
            </a:r>
          </a:p>
          <a:p>
            <a:pPr marL="0" indent="0">
              <a:buClr>
                <a:schemeClr val="tx1"/>
              </a:buClr>
              <a:buNone/>
            </a:pPr>
            <a:r>
              <a:rPr lang="fr-FR" b="1" dirty="0"/>
              <a:t>CONCLUSION</a:t>
            </a:r>
          </a:p>
        </p:txBody>
      </p:sp>
      <p:sp>
        <p:nvSpPr>
          <p:cNvPr id="4" name="Espace réservé du numéro de diapositive 3">
            <a:extLst>
              <a:ext uri="{FF2B5EF4-FFF2-40B4-BE49-F238E27FC236}">
                <a16:creationId xmlns:a16="http://schemas.microsoft.com/office/drawing/2014/main" id="{EDEA2191-8785-D9DB-C0DA-0325D1EDE657}"/>
              </a:ext>
            </a:extLst>
          </p:cNvPr>
          <p:cNvSpPr>
            <a:spLocks noGrp="1"/>
          </p:cNvSpPr>
          <p:nvPr>
            <p:ph type="sldNum" sz="quarter" idx="12"/>
          </p:nvPr>
        </p:nvSpPr>
        <p:spPr/>
        <p:txBody>
          <a:bodyPr/>
          <a:lstStyle/>
          <a:p>
            <a:fld id="{CF61F438-8138-45E7-89D7-489A5C6A0ED8}" type="slidenum">
              <a:rPr lang="fr-FR" sz="1600" b="1" smtClean="0"/>
              <a:t>2</a:t>
            </a:fld>
            <a:endParaRPr lang="fr-FR" sz="1050" b="1" dirty="0"/>
          </a:p>
        </p:txBody>
      </p:sp>
    </p:spTree>
    <p:extLst>
      <p:ext uri="{BB962C8B-B14F-4D97-AF65-F5344CB8AC3E}">
        <p14:creationId xmlns:p14="http://schemas.microsoft.com/office/powerpoint/2010/main" val="15400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46778AB-5DDD-AE0B-800A-F61C3A56A908}"/>
              </a:ext>
            </a:extLst>
          </p:cNvPr>
          <p:cNvSpPr>
            <a:spLocks noGrp="1"/>
          </p:cNvSpPr>
          <p:nvPr>
            <p:ph type="title"/>
          </p:nvPr>
        </p:nvSpPr>
        <p:spPr>
          <a:xfrm>
            <a:off x="3179429" y="1295486"/>
            <a:ext cx="5280245" cy="1137425"/>
          </a:xfrm>
        </p:spPr>
        <p:txBody>
          <a:bodyPr>
            <a:normAutofit/>
          </a:bodyPr>
          <a:lstStyle/>
          <a:p>
            <a:r>
              <a:rPr lang="fr-FR" b="1" u="sng" dirty="0">
                <a:solidFill>
                  <a:schemeClr val="accent3"/>
                </a:solidFill>
              </a:rPr>
              <a:t>INTRODUCTION</a:t>
            </a:r>
          </a:p>
        </p:txBody>
      </p:sp>
      <p:sp>
        <p:nvSpPr>
          <p:cNvPr id="3" name="Espace réservé du contenu 2">
            <a:extLst>
              <a:ext uri="{FF2B5EF4-FFF2-40B4-BE49-F238E27FC236}">
                <a16:creationId xmlns:a16="http://schemas.microsoft.com/office/drawing/2014/main" id="{9C211D0B-7B56-A9C3-204A-558F3EF0398F}"/>
              </a:ext>
            </a:extLst>
          </p:cNvPr>
          <p:cNvSpPr>
            <a:spLocks noGrp="1"/>
          </p:cNvSpPr>
          <p:nvPr>
            <p:ph idx="1"/>
          </p:nvPr>
        </p:nvSpPr>
        <p:spPr>
          <a:xfrm>
            <a:off x="1748421" y="2432911"/>
            <a:ext cx="8695157" cy="1992178"/>
          </a:xfrm>
        </p:spPr>
        <p:txBody>
          <a:bodyPr>
            <a:normAutofit/>
          </a:bodyPr>
          <a:lstStyle/>
          <a:p>
            <a:pPr marL="0" indent="0" algn="just">
              <a:buClrTx/>
              <a:buNone/>
            </a:pPr>
            <a:r>
              <a:rPr lang="fr-FR" dirty="0"/>
              <a:t>Les organisations sont de plus en plus exposées à des cyberattaques et doivent mettre en place des dispositifs de sécurité efficaces pour se protéger. Cependant face à la diversité et à la complexité croissante des menaces informatiques, il devient nécessaire d’adopter des solutions de sécurité plus avancées et intégrées telles que les SIEM.</a:t>
            </a:r>
            <a:endParaRPr lang="fr-FR" dirty="0">
              <a:solidFill>
                <a:schemeClr val="tx1"/>
              </a:solidFill>
              <a:latin typeface="+mj-lt"/>
            </a:endParaRPr>
          </a:p>
        </p:txBody>
      </p:sp>
      <p:sp>
        <p:nvSpPr>
          <p:cNvPr id="6" name="Espace réservé du numéro de diapositive 5">
            <a:extLst>
              <a:ext uri="{FF2B5EF4-FFF2-40B4-BE49-F238E27FC236}">
                <a16:creationId xmlns:a16="http://schemas.microsoft.com/office/drawing/2014/main" id="{1A8BD8EE-91E6-F23D-87F0-73F1A7667D95}"/>
              </a:ext>
            </a:extLst>
          </p:cNvPr>
          <p:cNvSpPr>
            <a:spLocks noGrp="1"/>
          </p:cNvSpPr>
          <p:nvPr>
            <p:ph type="sldNum" sz="quarter" idx="12"/>
          </p:nvPr>
        </p:nvSpPr>
        <p:spPr/>
        <p:txBody>
          <a:bodyPr/>
          <a:lstStyle/>
          <a:p>
            <a:fld id="{CF61F438-8138-45E7-89D7-489A5C6A0ED8}" type="slidenum">
              <a:rPr lang="fr-FR" sz="1600" b="1" smtClean="0"/>
              <a:t>3</a:t>
            </a:fld>
            <a:endParaRPr lang="fr-FR" b="1" dirty="0"/>
          </a:p>
        </p:txBody>
      </p:sp>
    </p:spTree>
    <p:extLst>
      <p:ext uri="{BB962C8B-B14F-4D97-AF65-F5344CB8AC3E}">
        <p14:creationId xmlns:p14="http://schemas.microsoft.com/office/powerpoint/2010/main" val="20559109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CB7EEA75-7602-E5C4-0AB4-1AB56F7C2057}"/>
              </a:ext>
            </a:extLst>
          </p:cNvPr>
          <p:cNvSpPr>
            <a:spLocks noGrp="1"/>
          </p:cNvSpPr>
          <p:nvPr>
            <p:ph idx="1"/>
          </p:nvPr>
        </p:nvSpPr>
        <p:spPr>
          <a:xfrm>
            <a:off x="1716595" y="2055758"/>
            <a:ext cx="8758809" cy="2746484"/>
          </a:xfrm>
        </p:spPr>
        <p:txBody>
          <a:bodyPr>
            <a:normAutofit/>
          </a:bodyPr>
          <a:lstStyle/>
          <a:p>
            <a:pPr marL="0" indent="0" algn="just">
              <a:buClrTx/>
              <a:buNone/>
            </a:pPr>
            <a:r>
              <a:rPr lang="fr-FR" sz="2400" dirty="0">
                <a:solidFill>
                  <a:schemeClr val="tx1"/>
                </a:solidFill>
              </a:rPr>
              <a:t>Les objectifs de cette étude </a:t>
            </a:r>
            <a:r>
              <a:rPr lang="fr-FR" dirty="0">
                <a:solidFill>
                  <a:schemeClr val="tx1"/>
                </a:solidFill>
              </a:rPr>
              <a:t>sont</a:t>
            </a:r>
            <a:r>
              <a:rPr lang="fr-FR" sz="2400" dirty="0">
                <a:solidFill>
                  <a:schemeClr val="tx1"/>
                </a:solidFill>
              </a:rPr>
              <a:t> de montrer : </a:t>
            </a:r>
          </a:p>
          <a:p>
            <a:pPr algn="just">
              <a:buClrTx/>
              <a:buFont typeface="Wingdings" panose="05000000000000000000" pitchFamily="2" charset="2"/>
              <a:buChar char="q"/>
            </a:pPr>
            <a:r>
              <a:rPr lang="fr-FR" dirty="0">
                <a:solidFill>
                  <a:schemeClr val="tx1"/>
                </a:solidFill>
              </a:rPr>
              <a:t>   </a:t>
            </a:r>
            <a:r>
              <a:rPr lang="fr-FR" b="1" dirty="0">
                <a:solidFill>
                  <a:schemeClr val="tx1"/>
                </a:solidFill>
              </a:rPr>
              <a:t>E</a:t>
            </a:r>
            <a:r>
              <a:rPr lang="fr-FR" sz="2400" b="1" dirty="0">
                <a:solidFill>
                  <a:schemeClr val="tx1"/>
                </a:solidFill>
              </a:rPr>
              <a:t>n quoi la mise en place d’un SIEM peut aider les   organisations au renforcement de leur posture de sécurité ?</a:t>
            </a:r>
          </a:p>
          <a:p>
            <a:pPr algn="just">
              <a:buClrTx/>
              <a:buFont typeface="Wingdings" panose="05000000000000000000" pitchFamily="2" charset="2"/>
              <a:buChar char="q"/>
            </a:pPr>
            <a:r>
              <a:rPr lang="fr-FR" b="1" dirty="0">
                <a:solidFill>
                  <a:schemeClr val="tx1"/>
                </a:solidFill>
              </a:rPr>
              <a:t>   Proposer</a:t>
            </a:r>
            <a:r>
              <a:rPr lang="fr-FR" sz="2400" b="1" dirty="0">
                <a:solidFill>
                  <a:schemeClr val="tx1"/>
                </a:solidFill>
              </a:rPr>
              <a:t> </a:t>
            </a:r>
            <a:r>
              <a:rPr lang="fr-FR" b="1" dirty="0">
                <a:solidFill>
                  <a:schemeClr val="tx1"/>
                </a:solidFill>
              </a:rPr>
              <a:t>d</a:t>
            </a:r>
            <a:r>
              <a:rPr lang="fr-FR" sz="2400" b="1" dirty="0">
                <a:solidFill>
                  <a:schemeClr val="tx1"/>
                </a:solidFill>
              </a:rPr>
              <a:t>es critères de choix d’un SIEM </a:t>
            </a:r>
            <a:endParaRPr lang="fr-FR" b="1" dirty="0"/>
          </a:p>
          <a:p>
            <a:pPr algn="just">
              <a:buClrTx/>
              <a:buFont typeface="Wingdings" panose="05000000000000000000" pitchFamily="2" charset="2"/>
              <a:buChar char="q"/>
            </a:pPr>
            <a:r>
              <a:rPr lang="fr-FR" b="1" dirty="0"/>
              <a:t>   D'analyser les avantages et les limites d'une telle solution de        	sécurité informatique.</a:t>
            </a:r>
            <a:endParaRPr lang="fr-FR" sz="2400" b="1" dirty="0">
              <a:solidFill>
                <a:schemeClr val="tx1"/>
              </a:solidFill>
            </a:endParaRPr>
          </a:p>
        </p:txBody>
      </p:sp>
      <p:sp>
        <p:nvSpPr>
          <p:cNvPr id="4" name="Espace réservé du numéro de diapositive 3">
            <a:extLst>
              <a:ext uri="{FF2B5EF4-FFF2-40B4-BE49-F238E27FC236}">
                <a16:creationId xmlns:a16="http://schemas.microsoft.com/office/drawing/2014/main" id="{50A86726-E270-1D92-CC93-1E92A22E8ADB}"/>
              </a:ext>
            </a:extLst>
          </p:cNvPr>
          <p:cNvSpPr>
            <a:spLocks noGrp="1"/>
          </p:cNvSpPr>
          <p:nvPr>
            <p:ph type="sldNum" sz="quarter" idx="12"/>
          </p:nvPr>
        </p:nvSpPr>
        <p:spPr/>
        <p:txBody>
          <a:bodyPr/>
          <a:lstStyle/>
          <a:p>
            <a:fld id="{CF61F438-8138-45E7-89D7-489A5C6A0ED8}" type="slidenum">
              <a:rPr lang="fr-FR" sz="1600" b="1" smtClean="0"/>
              <a:t>4</a:t>
            </a:fld>
            <a:endParaRPr lang="fr-FR" sz="1600" b="1" dirty="0"/>
          </a:p>
        </p:txBody>
      </p:sp>
      <p:sp>
        <p:nvSpPr>
          <p:cNvPr id="2" name="ZoneTexte 1">
            <a:extLst>
              <a:ext uri="{FF2B5EF4-FFF2-40B4-BE49-F238E27FC236}">
                <a16:creationId xmlns:a16="http://schemas.microsoft.com/office/drawing/2014/main" id="{9424FC69-A5D8-52F4-8B07-490D138BA603}"/>
              </a:ext>
            </a:extLst>
          </p:cNvPr>
          <p:cNvSpPr txBox="1"/>
          <p:nvPr/>
        </p:nvSpPr>
        <p:spPr>
          <a:xfrm>
            <a:off x="1716595" y="1168918"/>
            <a:ext cx="8071217" cy="707886"/>
          </a:xfrm>
          <a:prstGeom prst="rect">
            <a:avLst/>
          </a:prstGeom>
          <a:noFill/>
        </p:spPr>
        <p:txBody>
          <a:bodyPr wrap="square" rtlCol="0">
            <a:spAutoFit/>
          </a:bodyPr>
          <a:lstStyle/>
          <a:p>
            <a:pPr algn="ctr"/>
            <a:r>
              <a:rPr lang="fr-FR" sz="4000" b="1" u="sng" dirty="0">
                <a:solidFill>
                  <a:schemeClr val="accent3"/>
                </a:solidFill>
                <a:latin typeface="+mj-lt"/>
              </a:rPr>
              <a:t>OBJECTIFS DE L’ÉTUDE</a:t>
            </a:r>
          </a:p>
        </p:txBody>
      </p:sp>
    </p:spTree>
    <p:extLst>
      <p:ext uri="{BB962C8B-B14F-4D97-AF65-F5344CB8AC3E}">
        <p14:creationId xmlns:p14="http://schemas.microsoft.com/office/powerpoint/2010/main" val="13222951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7639D7-BF1B-9C1B-8793-76E30349D6C1}"/>
              </a:ext>
            </a:extLst>
          </p:cNvPr>
          <p:cNvSpPr>
            <a:spLocks noGrp="1"/>
          </p:cNvSpPr>
          <p:nvPr>
            <p:ph type="title"/>
          </p:nvPr>
        </p:nvSpPr>
        <p:spPr>
          <a:xfrm>
            <a:off x="1566749" y="1709312"/>
            <a:ext cx="7926768" cy="1303867"/>
          </a:xfrm>
        </p:spPr>
        <p:txBody>
          <a:bodyPr>
            <a:normAutofit fontScale="90000"/>
          </a:bodyPr>
          <a:lstStyle/>
          <a:p>
            <a:r>
              <a:rPr lang="fr-FR" sz="4400" b="1" u="sng" dirty="0">
                <a:solidFill>
                  <a:schemeClr val="accent3"/>
                </a:solidFill>
              </a:rPr>
              <a:t>LA SÉCURITÉ INFORMATIQUE</a:t>
            </a:r>
            <a:endParaRPr lang="fr-FR" sz="4400" b="1" u="sng" dirty="0">
              <a:solidFill>
                <a:schemeClr val="tx1"/>
              </a:solidFill>
            </a:endParaRPr>
          </a:p>
        </p:txBody>
      </p:sp>
      <p:sp>
        <p:nvSpPr>
          <p:cNvPr id="3" name="Espace réservé du contenu 2">
            <a:extLst>
              <a:ext uri="{FF2B5EF4-FFF2-40B4-BE49-F238E27FC236}">
                <a16:creationId xmlns:a16="http://schemas.microsoft.com/office/drawing/2014/main" id="{1284DA95-22D4-90AD-0C02-E2B0DA296589}"/>
              </a:ext>
            </a:extLst>
          </p:cNvPr>
          <p:cNvSpPr>
            <a:spLocks noGrp="1"/>
          </p:cNvSpPr>
          <p:nvPr>
            <p:ph idx="1"/>
          </p:nvPr>
        </p:nvSpPr>
        <p:spPr>
          <a:xfrm>
            <a:off x="1566750" y="3013179"/>
            <a:ext cx="8787151" cy="1596752"/>
          </a:xfrm>
        </p:spPr>
        <p:txBody>
          <a:bodyPr>
            <a:normAutofit/>
          </a:bodyPr>
          <a:lstStyle/>
          <a:p>
            <a:pPr marL="0" indent="0" algn="just">
              <a:buClrTx/>
              <a:buNone/>
            </a:pPr>
            <a:r>
              <a:rPr lang="fr-FR" dirty="0"/>
              <a:t>La sécurité informatique est un ensemble de mesures techniques, organisationnelles et humaines qui visent à protéger les systèmes informatiques et les données qu'ils contiennent contre les menaces internes et externes.</a:t>
            </a:r>
            <a:endParaRPr lang="fr-FR" sz="2400" b="1" u="sng" dirty="0">
              <a:solidFill>
                <a:schemeClr val="accent3"/>
              </a:solidFill>
            </a:endParaRPr>
          </a:p>
        </p:txBody>
      </p:sp>
      <p:sp>
        <p:nvSpPr>
          <p:cNvPr id="4" name="Espace réservé du numéro de diapositive 3">
            <a:extLst>
              <a:ext uri="{FF2B5EF4-FFF2-40B4-BE49-F238E27FC236}">
                <a16:creationId xmlns:a16="http://schemas.microsoft.com/office/drawing/2014/main" id="{62920B78-F096-D24E-D7DA-B51ED69141FD}"/>
              </a:ext>
            </a:extLst>
          </p:cNvPr>
          <p:cNvSpPr>
            <a:spLocks noGrp="1"/>
          </p:cNvSpPr>
          <p:nvPr>
            <p:ph type="sldNum" sz="quarter" idx="12"/>
          </p:nvPr>
        </p:nvSpPr>
        <p:spPr/>
        <p:txBody>
          <a:bodyPr/>
          <a:lstStyle/>
          <a:p>
            <a:fld id="{CF61F438-8138-45E7-89D7-489A5C6A0ED8}" type="slidenum">
              <a:rPr lang="fr-FR" sz="1600" b="1" smtClean="0"/>
              <a:t>5</a:t>
            </a:fld>
            <a:endParaRPr lang="fr-FR" sz="1050" b="1" dirty="0"/>
          </a:p>
        </p:txBody>
      </p:sp>
    </p:spTree>
    <p:extLst>
      <p:ext uri="{BB962C8B-B14F-4D97-AF65-F5344CB8AC3E}">
        <p14:creationId xmlns:p14="http://schemas.microsoft.com/office/powerpoint/2010/main" val="3981173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BC4192DC-D859-72B6-0F86-9265C856B20E}"/>
              </a:ext>
            </a:extLst>
          </p:cNvPr>
          <p:cNvSpPr>
            <a:spLocks noGrp="1"/>
          </p:cNvSpPr>
          <p:nvPr>
            <p:ph type="sldNum" sz="quarter" idx="12"/>
          </p:nvPr>
        </p:nvSpPr>
        <p:spPr/>
        <p:txBody>
          <a:bodyPr/>
          <a:lstStyle/>
          <a:p>
            <a:fld id="{CF61F438-8138-45E7-89D7-489A5C6A0ED8}" type="slidenum">
              <a:rPr lang="fr-FR" sz="1600" b="1" smtClean="0"/>
              <a:t>6</a:t>
            </a:fld>
            <a:endParaRPr lang="fr-FR" sz="1050" b="1" dirty="0"/>
          </a:p>
        </p:txBody>
      </p:sp>
      <p:sp>
        <p:nvSpPr>
          <p:cNvPr id="3" name="ZoneTexte 2">
            <a:extLst>
              <a:ext uri="{FF2B5EF4-FFF2-40B4-BE49-F238E27FC236}">
                <a16:creationId xmlns:a16="http://schemas.microsoft.com/office/drawing/2014/main" id="{D30095B4-242E-6A4A-72A3-9ABA7B217A2C}"/>
              </a:ext>
            </a:extLst>
          </p:cNvPr>
          <p:cNvSpPr txBox="1"/>
          <p:nvPr/>
        </p:nvSpPr>
        <p:spPr>
          <a:xfrm>
            <a:off x="2552204" y="966839"/>
            <a:ext cx="7087589" cy="461665"/>
          </a:xfrm>
          <a:prstGeom prst="rect">
            <a:avLst/>
          </a:prstGeom>
          <a:noFill/>
        </p:spPr>
        <p:txBody>
          <a:bodyPr wrap="square" rtlCol="0">
            <a:spAutoFit/>
          </a:bodyPr>
          <a:lstStyle/>
          <a:p>
            <a:pPr marL="457200" indent="-457200">
              <a:buClr>
                <a:schemeClr val="tx1"/>
              </a:buClr>
              <a:buFont typeface="+mj-lt"/>
              <a:buAutoNum type="alphaUcPeriod"/>
            </a:pPr>
            <a:r>
              <a:rPr lang="fr-FR" sz="2400" b="1" u="sng" dirty="0"/>
              <a:t>Objectifs de la sécurité informatique</a:t>
            </a:r>
          </a:p>
        </p:txBody>
      </p:sp>
      <p:pic>
        <p:nvPicPr>
          <p:cNvPr id="5" name="Image 4">
            <a:extLst>
              <a:ext uri="{FF2B5EF4-FFF2-40B4-BE49-F238E27FC236}">
                <a16:creationId xmlns:a16="http://schemas.microsoft.com/office/drawing/2014/main" id="{767333EF-25FE-90CD-C578-0BB6E009CA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52203" y="1723787"/>
            <a:ext cx="7087589" cy="3410426"/>
          </a:xfrm>
          <a:prstGeom prst="rect">
            <a:avLst/>
          </a:prstGeom>
        </p:spPr>
      </p:pic>
      <p:sp>
        <p:nvSpPr>
          <p:cNvPr id="6" name="ZoneTexte 5">
            <a:extLst>
              <a:ext uri="{FF2B5EF4-FFF2-40B4-BE49-F238E27FC236}">
                <a16:creationId xmlns:a16="http://schemas.microsoft.com/office/drawing/2014/main" id="{A0428F6C-ABBB-0611-14AF-2F20F4925EE2}"/>
              </a:ext>
            </a:extLst>
          </p:cNvPr>
          <p:cNvSpPr txBox="1"/>
          <p:nvPr/>
        </p:nvSpPr>
        <p:spPr>
          <a:xfrm>
            <a:off x="3673412" y="5263115"/>
            <a:ext cx="4470070" cy="369332"/>
          </a:xfrm>
          <a:prstGeom prst="rect">
            <a:avLst/>
          </a:prstGeom>
          <a:noFill/>
        </p:spPr>
        <p:txBody>
          <a:bodyPr wrap="none" rtlCol="0">
            <a:spAutoFit/>
          </a:bodyPr>
          <a:lstStyle/>
          <a:p>
            <a:r>
              <a:rPr lang="fr-FR" u="sng" dirty="0"/>
              <a:t>Figure 1 : Objectifs de la sécurité informatique</a:t>
            </a:r>
          </a:p>
        </p:txBody>
      </p:sp>
    </p:spTree>
    <p:extLst>
      <p:ext uri="{BB962C8B-B14F-4D97-AF65-F5344CB8AC3E}">
        <p14:creationId xmlns:p14="http://schemas.microsoft.com/office/powerpoint/2010/main" val="39749995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B14B1D6-F9AD-0FC8-6977-DD95E2DC90AB}"/>
              </a:ext>
            </a:extLst>
          </p:cNvPr>
          <p:cNvSpPr>
            <a:spLocks noGrp="1"/>
          </p:cNvSpPr>
          <p:nvPr>
            <p:ph type="sldNum" sz="quarter" idx="12"/>
          </p:nvPr>
        </p:nvSpPr>
        <p:spPr/>
        <p:txBody>
          <a:bodyPr/>
          <a:lstStyle/>
          <a:p>
            <a:fld id="{CF61F438-8138-45E7-89D7-489A5C6A0ED8}" type="slidenum">
              <a:rPr lang="fr-FR" sz="1600" b="1" smtClean="0"/>
              <a:t>7</a:t>
            </a:fld>
            <a:endParaRPr lang="fr-FR" sz="1050" b="1" dirty="0"/>
          </a:p>
        </p:txBody>
      </p:sp>
      <p:sp>
        <p:nvSpPr>
          <p:cNvPr id="3" name="ZoneTexte 2">
            <a:extLst>
              <a:ext uri="{FF2B5EF4-FFF2-40B4-BE49-F238E27FC236}">
                <a16:creationId xmlns:a16="http://schemas.microsoft.com/office/drawing/2014/main" id="{1E653290-F58E-F2B9-E621-035DB2D58504}"/>
              </a:ext>
            </a:extLst>
          </p:cNvPr>
          <p:cNvSpPr txBox="1"/>
          <p:nvPr/>
        </p:nvSpPr>
        <p:spPr>
          <a:xfrm>
            <a:off x="1926794" y="1720840"/>
            <a:ext cx="8338411" cy="3416320"/>
          </a:xfrm>
          <a:prstGeom prst="rect">
            <a:avLst/>
          </a:prstGeom>
          <a:noFill/>
        </p:spPr>
        <p:txBody>
          <a:bodyPr wrap="square" rtlCol="0">
            <a:spAutoFit/>
          </a:bodyPr>
          <a:lstStyle/>
          <a:p>
            <a:pPr marL="457200" indent="-457200" algn="just">
              <a:buClr>
                <a:schemeClr val="tx1"/>
              </a:buClr>
              <a:buSzPct val="100000"/>
              <a:buFont typeface="+mj-lt"/>
              <a:buAutoNum type="alphaUcPeriod" startAt="2"/>
            </a:pPr>
            <a:r>
              <a:rPr lang="fr-FR" sz="2400" b="1" u="sng" dirty="0"/>
              <a:t>Présentation des outils de sécurité</a:t>
            </a:r>
            <a:endParaRPr lang="fr-FR" sz="2400" b="1" u="sng" dirty="0">
              <a:solidFill>
                <a:schemeClr val="accent3"/>
              </a:solidFill>
            </a:endParaRPr>
          </a:p>
          <a:p>
            <a:pPr algn="just"/>
            <a:r>
              <a:rPr lang="fr-FR" sz="2400" dirty="0"/>
              <a:t>Il existe une grande variété d'outils de sécurité informatique disponibles sur le marché, qui peuvent aider les entreprises à protéger leurs systèmes informatiques et leurs données. </a:t>
            </a:r>
          </a:p>
          <a:p>
            <a:pPr algn="just"/>
            <a:endParaRPr lang="fr-FR" sz="2400" dirty="0"/>
          </a:p>
          <a:p>
            <a:pPr marL="342900" indent="-342900" algn="just">
              <a:buFont typeface="Wingdings" panose="05000000000000000000" pitchFamily="2" charset="2"/>
              <a:buChar char="q"/>
            </a:pPr>
            <a:r>
              <a:rPr lang="fr-FR" sz="2400" b="1" dirty="0"/>
              <a:t> Antivirus</a:t>
            </a:r>
          </a:p>
          <a:p>
            <a:pPr marL="342900" indent="-342900" algn="just">
              <a:buFont typeface="Wingdings" panose="05000000000000000000" pitchFamily="2" charset="2"/>
              <a:buChar char="q"/>
            </a:pPr>
            <a:r>
              <a:rPr lang="fr-FR" sz="2400" b="1" dirty="0"/>
              <a:t> Firewall</a:t>
            </a:r>
          </a:p>
          <a:p>
            <a:pPr marL="342900" indent="-342900" algn="just">
              <a:buFont typeface="Wingdings" panose="05000000000000000000" pitchFamily="2" charset="2"/>
              <a:buChar char="q"/>
            </a:pPr>
            <a:r>
              <a:rPr lang="fr-FR" sz="2400" b="1" dirty="0"/>
              <a:t> IDS/IPS</a:t>
            </a:r>
          </a:p>
          <a:p>
            <a:pPr marL="342900" indent="-342900" algn="just">
              <a:buFont typeface="Wingdings" panose="05000000000000000000" pitchFamily="2" charset="2"/>
              <a:buChar char="q"/>
            </a:pPr>
            <a:r>
              <a:rPr lang="fr-FR" sz="2400" b="1" dirty="0"/>
              <a:t> VPN</a:t>
            </a:r>
          </a:p>
        </p:txBody>
      </p:sp>
    </p:spTree>
    <p:extLst>
      <p:ext uri="{BB962C8B-B14F-4D97-AF65-F5344CB8AC3E}">
        <p14:creationId xmlns:p14="http://schemas.microsoft.com/office/powerpoint/2010/main" val="36619273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753A1B9-650F-9625-26F6-BDB7F2D4CCE8}"/>
              </a:ext>
            </a:extLst>
          </p:cNvPr>
          <p:cNvSpPr>
            <a:spLocks noGrp="1"/>
          </p:cNvSpPr>
          <p:nvPr>
            <p:ph type="sldNum" sz="quarter" idx="12"/>
          </p:nvPr>
        </p:nvSpPr>
        <p:spPr/>
        <p:txBody>
          <a:bodyPr/>
          <a:lstStyle/>
          <a:p>
            <a:fld id="{CF61F438-8138-45E7-89D7-489A5C6A0ED8}" type="slidenum">
              <a:rPr lang="fr-FR" sz="1600" b="1" smtClean="0"/>
              <a:t>8</a:t>
            </a:fld>
            <a:endParaRPr lang="fr-FR" b="1" dirty="0"/>
          </a:p>
        </p:txBody>
      </p:sp>
      <p:sp>
        <p:nvSpPr>
          <p:cNvPr id="3" name="ZoneTexte 2">
            <a:extLst>
              <a:ext uri="{FF2B5EF4-FFF2-40B4-BE49-F238E27FC236}">
                <a16:creationId xmlns:a16="http://schemas.microsoft.com/office/drawing/2014/main" id="{442CE00D-07A1-C490-3D59-05A4CA1A3BE8}"/>
              </a:ext>
            </a:extLst>
          </p:cNvPr>
          <p:cNvSpPr txBox="1"/>
          <p:nvPr/>
        </p:nvSpPr>
        <p:spPr>
          <a:xfrm>
            <a:off x="2290231" y="967870"/>
            <a:ext cx="5231219" cy="461665"/>
          </a:xfrm>
          <a:prstGeom prst="rect">
            <a:avLst/>
          </a:prstGeom>
          <a:noFill/>
        </p:spPr>
        <p:txBody>
          <a:bodyPr wrap="square" rtlCol="0">
            <a:spAutoFit/>
          </a:bodyPr>
          <a:lstStyle/>
          <a:p>
            <a:pPr marL="457200" indent="-457200">
              <a:buFont typeface="+mj-lt"/>
              <a:buAutoNum type="alphaUcPeriod" startAt="3"/>
            </a:pPr>
            <a:r>
              <a:rPr lang="fr-FR" sz="2400" b="1" u="sng" dirty="0"/>
              <a:t>Les logs</a:t>
            </a:r>
            <a:endParaRPr lang="fr-FR" sz="2400" dirty="0"/>
          </a:p>
        </p:txBody>
      </p:sp>
      <p:sp>
        <p:nvSpPr>
          <p:cNvPr id="5" name="ZoneTexte 4">
            <a:extLst>
              <a:ext uri="{FF2B5EF4-FFF2-40B4-BE49-F238E27FC236}">
                <a16:creationId xmlns:a16="http://schemas.microsoft.com/office/drawing/2014/main" id="{5A45DEA2-429C-12C7-922F-7E13431DE16C}"/>
              </a:ext>
            </a:extLst>
          </p:cNvPr>
          <p:cNvSpPr txBox="1"/>
          <p:nvPr/>
        </p:nvSpPr>
        <p:spPr>
          <a:xfrm>
            <a:off x="2162634" y="1539269"/>
            <a:ext cx="8796898" cy="1200329"/>
          </a:xfrm>
          <a:prstGeom prst="rect">
            <a:avLst/>
          </a:prstGeom>
          <a:noFill/>
        </p:spPr>
        <p:txBody>
          <a:bodyPr wrap="square" rtlCol="0">
            <a:spAutoFit/>
          </a:bodyPr>
          <a:lstStyle/>
          <a:p>
            <a:r>
              <a:rPr lang="fr-FR" sz="2400" i="0" dirty="0">
                <a:solidFill>
                  <a:srgbClr val="271A38"/>
                </a:solidFill>
                <a:effectLst/>
              </a:rPr>
              <a:t>Un log est un fichier qui enregistre des événements qui se produisent sur un système d'exploitation ou tout autre équipement informatique ( par exemple un routeur, serveur, </a:t>
            </a:r>
            <a:r>
              <a:rPr lang="fr-FR" sz="2400" i="0">
                <a:solidFill>
                  <a:srgbClr val="271A38"/>
                </a:solidFill>
                <a:effectLst/>
              </a:rPr>
              <a:t>un pare-feu )</a:t>
            </a:r>
            <a:r>
              <a:rPr lang="fr-FR" b="0" i="0">
                <a:solidFill>
                  <a:srgbClr val="271A38"/>
                </a:solidFill>
                <a:effectLst/>
                <a:latin typeface="Inter"/>
              </a:rPr>
              <a:t>.</a:t>
            </a:r>
            <a:endParaRPr lang="fr-FR" dirty="0"/>
          </a:p>
        </p:txBody>
      </p:sp>
      <p:pic>
        <p:nvPicPr>
          <p:cNvPr id="9" name="Image 8">
            <a:extLst>
              <a:ext uri="{FF2B5EF4-FFF2-40B4-BE49-F238E27FC236}">
                <a16:creationId xmlns:a16="http://schemas.microsoft.com/office/drawing/2014/main" id="{1E51C7BF-E032-3EA3-95A6-774C20A51F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0231" y="2849332"/>
            <a:ext cx="7611537" cy="1781424"/>
          </a:xfrm>
          <a:prstGeom prst="rect">
            <a:avLst/>
          </a:prstGeom>
        </p:spPr>
      </p:pic>
      <p:sp>
        <p:nvSpPr>
          <p:cNvPr id="10" name="ZoneTexte 9">
            <a:extLst>
              <a:ext uri="{FF2B5EF4-FFF2-40B4-BE49-F238E27FC236}">
                <a16:creationId xmlns:a16="http://schemas.microsoft.com/office/drawing/2014/main" id="{631B58B7-EC40-4B1F-B6E2-1E95BC939B7C}"/>
              </a:ext>
            </a:extLst>
          </p:cNvPr>
          <p:cNvSpPr txBox="1"/>
          <p:nvPr/>
        </p:nvSpPr>
        <p:spPr>
          <a:xfrm>
            <a:off x="4543843" y="4740490"/>
            <a:ext cx="3104311" cy="369332"/>
          </a:xfrm>
          <a:prstGeom prst="rect">
            <a:avLst/>
          </a:prstGeom>
          <a:noFill/>
        </p:spPr>
        <p:txBody>
          <a:bodyPr wrap="none" rtlCol="0">
            <a:spAutoFit/>
          </a:bodyPr>
          <a:lstStyle/>
          <a:p>
            <a:r>
              <a:rPr lang="fr-FR" u="sng" dirty="0"/>
              <a:t>Figure 2 : Exemple de fichier log</a:t>
            </a:r>
          </a:p>
        </p:txBody>
      </p:sp>
    </p:spTree>
    <p:extLst>
      <p:ext uri="{BB962C8B-B14F-4D97-AF65-F5344CB8AC3E}">
        <p14:creationId xmlns:p14="http://schemas.microsoft.com/office/powerpoint/2010/main" val="26578098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86BFA9-B653-BED7-747F-866A40726695}"/>
              </a:ext>
            </a:extLst>
          </p:cNvPr>
          <p:cNvSpPr>
            <a:spLocks noGrp="1"/>
          </p:cNvSpPr>
          <p:nvPr>
            <p:ph type="title"/>
          </p:nvPr>
        </p:nvSpPr>
        <p:spPr>
          <a:xfrm>
            <a:off x="1295402" y="609600"/>
            <a:ext cx="9601196" cy="1303867"/>
          </a:xfrm>
        </p:spPr>
        <p:txBody>
          <a:bodyPr>
            <a:normAutofit/>
          </a:bodyPr>
          <a:lstStyle/>
          <a:p>
            <a:pPr marL="857250" indent="-857250">
              <a:buFont typeface="+mj-lt"/>
              <a:buAutoNum type="romanUcPeriod" startAt="4"/>
            </a:pPr>
            <a:r>
              <a:rPr lang="fr-FR" sz="4400" b="1" u="sng" dirty="0">
                <a:solidFill>
                  <a:schemeClr val="accent3"/>
                </a:solidFill>
              </a:rPr>
              <a:t>ANALYSE DES SIEM</a:t>
            </a:r>
            <a:endParaRPr lang="fr-FR" b="1" u="sng" dirty="0">
              <a:solidFill>
                <a:schemeClr val="accent3"/>
              </a:solidFill>
            </a:endParaRPr>
          </a:p>
        </p:txBody>
      </p:sp>
      <p:sp>
        <p:nvSpPr>
          <p:cNvPr id="3" name="Espace réservé du contenu 2">
            <a:extLst>
              <a:ext uri="{FF2B5EF4-FFF2-40B4-BE49-F238E27FC236}">
                <a16:creationId xmlns:a16="http://schemas.microsoft.com/office/drawing/2014/main" id="{1888FC8E-7DFC-B41E-EA35-93826DBE5CCB}"/>
              </a:ext>
            </a:extLst>
          </p:cNvPr>
          <p:cNvSpPr>
            <a:spLocks noGrp="1"/>
          </p:cNvSpPr>
          <p:nvPr>
            <p:ph idx="1"/>
          </p:nvPr>
        </p:nvSpPr>
        <p:spPr>
          <a:xfrm>
            <a:off x="1714968" y="1769532"/>
            <a:ext cx="8762064" cy="3318936"/>
          </a:xfrm>
        </p:spPr>
        <p:txBody>
          <a:bodyPr/>
          <a:lstStyle/>
          <a:p>
            <a:pPr marL="457200" indent="-457200" algn="just">
              <a:buClr>
                <a:schemeClr val="tx1"/>
              </a:buClr>
              <a:buFont typeface="+mj-lt"/>
              <a:buAutoNum type="alphaUcPeriod"/>
            </a:pPr>
            <a:r>
              <a:rPr lang="fr-FR" sz="2400" b="1" u="sng" dirty="0">
                <a:solidFill>
                  <a:schemeClr val="tx1"/>
                </a:solidFill>
              </a:rPr>
              <a:t>Avantages des SIEM</a:t>
            </a:r>
          </a:p>
          <a:p>
            <a:pPr marL="0" indent="0" algn="just">
              <a:buClr>
                <a:schemeClr val="accent3"/>
              </a:buClr>
              <a:buNone/>
            </a:pPr>
            <a:r>
              <a:rPr lang="fr-FR" dirty="0"/>
              <a:t>Les SIEM présentent plusieurs avantages parmi lesquels, on peut citer :</a:t>
            </a:r>
          </a:p>
          <a:p>
            <a:pPr algn="just">
              <a:buClrTx/>
              <a:buFont typeface="Wingdings" panose="05000000000000000000" pitchFamily="2" charset="2"/>
              <a:buChar char="q"/>
            </a:pPr>
            <a:r>
              <a:rPr lang="fr-FR" b="1" dirty="0"/>
              <a:t>  la centralisation des données de sécurité</a:t>
            </a:r>
          </a:p>
          <a:p>
            <a:pPr algn="just">
              <a:buClrTx/>
              <a:buFont typeface="Wingdings" panose="05000000000000000000" pitchFamily="2" charset="2"/>
              <a:buChar char="q"/>
            </a:pPr>
            <a:r>
              <a:rPr lang="fr-FR" b="1" dirty="0"/>
              <a:t>  la corrélation des événements</a:t>
            </a:r>
          </a:p>
          <a:p>
            <a:pPr algn="just">
              <a:buClrTx/>
              <a:buFont typeface="Wingdings" panose="05000000000000000000" pitchFamily="2" charset="2"/>
              <a:buChar char="q"/>
            </a:pPr>
            <a:r>
              <a:rPr lang="fr-FR" b="1" dirty="0"/>
              <a:t>  la détection des anomalies </a:t>
            </a:r>
          </a:p>
          <a:p>
            <a:pPr algn="just">
              <a:buClrTx/>
              <a:buFont typeface="Wingdings" panose="05000000000000000000" pitchFamily="2" charset="2"/>
              <a:buChar char="q"/>
            </a:pPr>
            <a:r>
              <a:rPr lang="fr-FR" b="1" dirty="0"/>
              <a:t>  la génération d'alertes</a:t>
            </a:r>
            <a:r>
              <a:rPr lang="fr-FR" dirty="0"/>
              <a:t>.</a:t>
            </a:r>
            <a:endParaRPr lang="fr-FR" sz="2000" b="1" u="sng" dirty="0">
              <a:solidFill>
                <a:schemeClr val="accent3"/>
              </a:solidFill>
            </a:endParaRPr>
          </a:p>
        </p:txBody>
      </p:sp>
      <p:sp>
        <p:nvSpPr>
          <p:cNvPr id="4" name="Espace réservé du numéro de diapositive 3">
            <a:extLst>
              <a:ext uri="{FF2B5EF4-FFF2-40B4-BE49-F238E27FC236}">
                <a16:creationId xmlns:a16="http://schemas.microsoft.com/office/drawing/2014/main" id="{91A559DC-047B-9FA4-F639-85315C5143C9}"/>
              </a:ext>
            </a:extLst>
          </p:cNvPr>
          <p:cNvSpPr>
            <a:spLocks noGrp="1"/>
          </p:cNvSpPr>
          <p:nvPr>
            <p:ph type="sldNum" sz="quarter" idx="12"/>
          </p:nvPr>
        </p:nvSpPr>
        <p:spPr/>
        <p:txBody>
          <a:bodyPr/>
          <a:lstStyle/>
          <a:p>
            <a:fld id="{CF61F438-8138-45E7-89D7-489A5C6A0ED8}" type="slidenum">
              <a:rPr lang="fr-FR" sz="1600" b="1" smtClean="0"/>
              <a:t>9</a:t>
            </a:fld>
            <a:endParaRPr lang="fr-FR" b="1" dirty="0"/>
          </a:p>
        </p:txBody>
      </p:sp>
    </p:spTree>
    <p:extLst>
      <p:ext uri="{BB962C8B-B14F-4D97-AF65-F5344CB8AC3E}">
        <p14:creationId xmlns:p14="http://schemas.microsoft.com/office/powerpoint/2010/main" val="291790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0CC2E70B-22F9-7CB9-B5CC-4ACE1D6359A6}"/>
              </a:ext>
            </a:extLst>
          </p:cNvPr>
          <p:cNvSpPr>
            <a:spLocks noGrp="1"/>
          </p:cNvSpPr>
          <p:nvPr>
            <p:ph type="sldNum" sz="quarter" idx="12"/>
          </p:nvPr>
        </p:nvSpPr>
        <p:spPr/>
        <p:txBody>
          <a:bodyPr/>
          <a:lstStyle/>
          <a:p>
            <a:fld id="{CF61F438-8138-45E7-89D7-489A5C6A0ED8}" type="slidenum">
              <a:rPr lang="fr-FR" sz="1600" b="1" smtClean="0"/>
              <a:t>10</a:t>
            </a:fld>
            <a:endParaRPr lang="fr-FR" b="1" dirty="0"/>
          </a:p>
        </p:txBody>
      </p:sp>
      <p:sp>
        <p:nvSpPr>
          <p:cNvPr id="3" name="ZoneTexte 2">
            <a:extLst>
              <a:ext uri="{FF2B5EF4-FFF2-40B4-BE49-F238E27FC236}">
                <a16:creationId xmlns:a16="http://schemas.microsoft.com/office/drawing/2014/main" id="{B864E711-6BF5-911B-7692-D189D558A7B5}"/>
              </a:ext>
            </a:extLst>
          </p:cNvPr>
          <p:cNvSpPr txBox="1"/>
          <p:nvPr/>
        </p:nvSpPr>
        <p:spPr>
          <a:xfrm>
            <a:off x="2149358" y="1045821"/>
            <a:ext cx="3526251" cy="461665"/>
          </a:xfrm>
          <a:prstGeom prst="rect">
            <a:avLst/>
          </a:prstGeom>
          <a:noFill/>
        </p:spPr>
        <p:txBody>
          <a:bodyPr wrap="square" rtlCol="0">
            <a:spAutoFit/>
          </a:bodyPr>
          <a:lstStyle/>
          <a:p>
            <a:pPr marL="342900" indent="-342900">
              <a:buFont typeface="+mj-lt"/>
              <a:buAutoNum type="alphaUcPeriod" startAt="2"/>
            </a:pPr>
            <a:r>
              <a:rPr lang="fr-FR" sz="2400" b="1" u="sng" dirty="0"/>
              <a:t>Évolution des SIEM</a:t>
            </a:r>
          </a:p>
        </p:txBody>
      </p:sp>
      <p:sp>
        <p:nvSpPr>
          <p:cNvPr id="36" name="ZoneTexte 35">
            <a:extLst>
              <a:ext uri="{FF2B5EF4-FFF2-40B4-BE49-F238E27FC236}">
                <a16:creationId xmlns:a16="http://schemas.microsoft.com/office/drawing/2014/main" id="{21451F01-E1D6-25FC-7C37-631D05EA27DA}"/>
              </a:ext>
            </a:extLst>
          </p:cNvPr>
          <p:cNvSpPr txBox="1"/>
          <p:nvPr/>
        </p:nvSpPr>
        <p:spPr>
          <a:xfrm>
            <a:off x="3497279" y="5183352"/>
            <a:ext cx="4979184" cy="369332"/>
          </a:xfrm>
          <a:prstGeom prst="rect">
            <a:avLst/>
          </a:prstGeom>
          <a:noFill/>
        </p:spPr>
        <p:txBody>
          <a:bodyPr wrap="none" rtlCol="0">
            <a:spAutoFit/>
          </a:bodyPr>
          <a:lstStyle/>
          <a:p>
            <a:r>
              <a:rPr lang="fr-FR" u="sng" dirty="0"/>
              <a:t>Figure 3 : Nouvelles technologies intégrées aux SIEM</a:t>
            </a:r>
          </a:p>
        </p:txBody>
      </p:sp>
      <p:pic>
        <p:nvPicPr>
          <p:cNvPr id="6" name="Image 5">
            <a:extLst>
              <a:ext uri="{FF2B5EF4-FFF2-40B4-BE49-F238E27FC236}">
                <a16:creationId xmlns:a16="http://schemas.microsoft.com/office/drawing/2014/main" id="{BA78BAE8-C76E-F105-5B52-CA8C5615CD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9358" y="1801989"/>
            <a:ext cx="7893281" cy="3254022"/>
          </a:xfrm>
          <a:prstGeom prst="rect">
            <a:avLst/>
          </a:prstGeom>
        </p:spPr>
      </p:pic>
    </p:spTree>
    <p:extLst>
      <p:ext uri="{BB962C8B-B14F-4D97-AF65-F5344CB8AC3E}">
        <p14:creationId xmlns:p14="http://schemas.microsoft.com/office/powerpoint/2010/main" val="850430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933D666-830E-2BA9-9331-B7282E16313F}"/>
              </a:ext>
            </a:extLst>
          </p:cNvPr>
          <p:cNvSpPr>
            <a:spLocks noGrp="1"/>
          </p:cNvSpPr>
          <p:nvPr>
            <p:ph type="sldNum" sz="quarter" idx="12"/>
          </p:nvPr>
        </p:nvSpPr>
        <p:spPr/>
        <p:txBody>
          <a:bodyPr/>
          <a:lstStyle/>
          <a:p>
            <a:fld id="{CF61F438-8138-45E7-89D7-489A5C6A0ED8}" type="slidenum">
              <a:rPr lang="fr-FR" sz="1600" b="1" smtClean="0"/>
              <a:t>11</a:t>
            </a:fld>
            <a:endParaRPr lang="fr-FR" b="1" dirty="0"/>
          </a:p>
        </p:txBody>
      </p:sp>
      <p:sp>
        <p:nvSpPr>
          <p:cNvPr id="3" name="ZoneTexte 2">
            <a:extLst>
              <a:ext uri="{FF2B5EF4-FFF2-40B4-BE49-F238E27FC236}">
                <a16:creationId xmlns:a16="http://schemas.microsoft.com/office/drawing/2014/main" id="{64B0B79E-9C95-428F-83EB-FD7674F14087}"/>
              </a:ext>
            </a:extLst>
          </p:cNvPr>
          <p:cNvSpPr txBox="1"/>
          <p:nvPr/>
        </p:nvSpPr>
        <p:spPr>
          <a:xfrm>
            <a:off x="2215116" y="1037808"/>
            <a:ext cx="3590202" cy="461665"/>
          </a:xfrm>
          <a:prstGeom prst="rect">
            <a:avLst/>
          </a:prstGeom>
          <a:noFill/>
        </p:spPr>
        <p:txBody>
          <a:bodyPr wrap="square" rtlCol="0">
            <a:spAutoFit/>
          </a:bodyPr>
          <a:lstStyle/>
          <a:p>
            <a:pPr marL="457200" indent="-457200">
              <a:buFont typeface="+mj-lt"/>
              <a:buAutoNum type="alphaUcPeriod" startAt="3"/>
            </a:pPr>
            <a:r>
              <a:rPr lang="fr-FR" sz="2400" b="1" u="sng" dirty="0"/>
              <a:t>Workflow d’un SIEM</a:t>
            </a:r>
          </a:p>
        </p:txBody>
      </p:sp>
      <p:sp>
        <p:nvSpPr>
          <p:cNvPr id="6" name="ZoneTexte 5">
            <a:extLst>
              <a:ext uri="{FF2B5EF4-FFF2-40B4-BE49-F238E27FC236}">
                <a16:creationId xmlns:a16="http://schemas.microsoft.com/office/drawing/2014/main" id="{172FCA38-83DE-9515-99F9-F865B01E9F57}"/>
              </a:ext>
            </a:extLst>
          </p:cNvPr>
          <p:cNvSpPr txBox="1"/>
          <p:nvPr/>
        </p:nvSpPr>
        <p:spPr>
          <a:xfrm>
            <a:off x="4091109" y="5132279"/>
            <a:ext cx="3737754" cy="369332"/>
          </a:xfrm>
          <a:prstGeom prst="rect">
            <a:avLst/>
          </a:prstGeom>
          <a:noFill/>
        </p:spPr>
        <p:txBody>
          <a:bodyPr wrap="none" rtlCol="0">
            <a:spAutoFit/>
          </a:bodyPr>
          <a:lstStyle/>
          <a:p>
            <a:r>
              <a:rPr lang="fr-FR" u="sng" dirty="0"/>
              <a:t>Figure 4 : Fonctionnement d’un SIEM</a:t>
            </a:r>
          </a:p>
        </p:txBody>
      </p:sp>
      <p:pic>
        <p:nvPicPr>
          <p:cNvPr id="7" name="Image 6">
            <a:extLst>
              <a:ext uri="{FF2B5EF4-FFF2-40B4-BE49-F238E27FC236}">
                <a16:creationId xmlns:a16="http://schemas.microsoft.com/office/drawing/2014/main" id="{3D100F9F-3DE0-C6F7-C537-EE7DF31F62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5339" y="1823778"/>
            <a:ext cx="9181322" cy="3210444"/>
          </a:xfrm>
          <a:prstGeom prst="rect">
            <a:avLst/>
          </a:prstGeom>
        </p:spPr>
      </p:pic>
    </p:spTree>
    <p:extLst>
      <p:ext uri="{BB962C8B-B14F-4D97-AF65-F5344CB8AC3E}">
        <p14:creationId xmlns:p14="http://schemas.microsoft.com/office/powerpoint/2010/main" val="1336230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C1BAF499-B0B8-C74B-2FBB-D3A921F9C72B}"/>
              </a:ext>
            </a:extLst>
          </p:cNvPr>
          <p:cNvSpPr>
            <a:spLocks noGrp="1"/>
          </p:cNvSpPr>
          <p:nvPr>
            <p:ph type="sldNum" sz="quarter" idx="12"/>
          </p:nvPr>
        </p:nvSpPr>
        <p:spPr/>
        <p:txBody>
          <a:bodyPr/>
          <a:lstStyle/>
          <a:p>
            <a:fld id="{CF61F438-8138-45E7-89D7-489A5C6A0ED8}" type="slidenum">
              <a:rPr lang="fr-FR" sz="1600" b="1" smtClean="0"/>
              <a:t>12</a:t>
            </a:fld>
            <a:endParaRPr lang="fr-FR" sz="1600" b="1" dirty="0"/>
          </a:p>
        </p:txBody>
      </p:sp>
      <p:pic>
        <p:nvPicPr>
          <p:cNvPr id="3" name="Image 2">
            <a:extLst>
              <a:ext uri="{FF2B5EF4-FFF2-40B4-BE49-F238E27FC236}">
                <a16:creationId xmlns:a16="http://schemas.microsoft.com/office/drawing/2014/main" id="{6C337BA5-2B77-5819-30F6-ED0051D0A9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7511" y="1803421"/>
            <a:ext cx="7176977" cy="3251158"/>
          </a:xfrm>
          <a:prstGeom prst="rect">
            <a:avLst/>
          </a:prstGeom>
        </p:spPr>
      </p:pic>
      <p:sp>
        <p:nvSpPr>
          <p:cNvPr id="5" name="ZoneTexte 4">
            <a:extLst>
              <a:ext uri="{FF2B5EF4-FFF2-40B4-BE49-F238E27FC236}">
                <a16:creationId xmlns:a16="http://schemas.microsoft.com/office/drawing/2014/main" id="{78D40EC7-46EE-EBCF-ACDC-5EC17152410E}"/>
              </a:ext>
            </a:extLst>
          </p:cNvPr>
          <p:cNvSpPr txBox="1"/>
          <p:nvPr/>
        </p:nvSpPr>
        <p:spPr>
          <a:xfrm>
            <a:off x="2507511" y="1208209"/>
            <a:ext cx="6097554" cy="461665"/>
          </a:xfrm>
          <a:prstGeom prst="rect">
            <a:avLst/>
          </a:prstGeom>
          <a:noFill/>
        </p:spPr>
        <p:txBody>
          <a:bodyPr wrap="square">
            <a:spAutoFit/>
          </a:bodyPr>
          <a:lstStyle/>
          <a:p>
            <a:pPr marL="457200" indent="-457200">
              <a:buFont typeface="+mj-lt"/>
              <a:buAutoNum type="alphaUcPeriod" startAt="4"/>
            </a:pPr>
            <a:r>
              <a:rPr lang="fr-FR" sz="2400" b="1" u="sng" dirty="0"/>
              <a:t>SIEM et SOC</a:t>
            </a:r>
          </a:p>
        </p:txBody>
      </p:sp>
      <p:sp>
        <p:nvSpPr>
          <p:cNvPr id="4" name="ZoneTexte 3">
            <a:extLst>
              <a:ext uri="{FF2B5EF4-FFF2-40B4-BE49-F238E27FC236}">
                <a16:creationId xmlns:a16="http://schemas.microsoft.com/office/drawing/2014/main" id="{23C13C8D-AFF4-514E-D66A-F55E00017D09}"/>
              </a:ext>
            </a:extLst>
          </p:cNvPr>
          <p:cNvSpPr txBox="1"/>
          <p:nvPr/>
        </p:nvSpPr>
        <p:spPr>
          <a:xfrm>
            <a:off x="4318910" y="5188126"/>
            <a:ext cx="3554178" cy="369332"/>
          </a:xfrm>
          <a:prstGeom prst="rect">
            <a:avLst/>
          </a:prstGeom>
          <a:noFill/>
        </p:spPr>
        <p:txBody>
          <a:bodyPr wrap="none" rtlCol="0">
            <a:spAutoFit/>
          </a:bodyPr>
          <a:lstStyle/>
          <a:p>
            <a:r>
              <a:rPr lang="fr-FR" u="sng" dirty="0"/>
              <a:t>Figure 5 : Rôle du SIEM dans le SOC</a:t>
            </a:r>
          </a:p>
        </p:txBody>
      </p:sp>
    </p:spTree>
    <p:extLst>
      <p:ext uri="{BB962C8B-B14F-4D97-AF65-F5344CB8AC3E}">
        <p14:creationId xmlns:p14="http://schemas.microsoft.com/office/powerpoint/2010/main" val="36034101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DF8D39FE-C650-9177-CCD5-95B62585300E}"/>
              </a:ext>
            </a:extLst>
          </p:cNvPr>
          <p:cNvSpPr>
            <a:spLocks noGrp="1"/>
          </p:cNvSpPr>
          <p:nvPr>
            <p:ph idx="1"/>
          </p:nvPr>
        </p:nvSpPr>
        <p:spPr>
          <a:xfrm>
            <a:off x="2698379" y="1820981"/>
            <a:ext cx="6795241" cy="3216038"/>
          </a:xfrm>
        </p:spPr>
        <p:txBody>
          <a:bodyPr>
            <a:normAutofit/>
          </a:bodyPr>
          <a:lstStyle/>
          <a:p>
            <a:pPr marL="457200" indent="-457200">
              <a:buClrTx/>
              <a:buFont typeface="+mj-lt"/>
              <a:buAutoNum type="alphaUcPeriod" startAt="5"/>
            </a:pPr>
            <a:r>
              <a:rPr lang="fr-FR" sz="2400" b="1" u="sng" dirty="0">
                <a:solidFill>
                  <a:schemeClr val="tx1"/>
                </a:solidFill>
              </a:rPr>
              <a:t>Limites des SIEM </a:t>
            </a:r>
          </a:p>
          <a:p>
            <a:pPr>
              <a:buClrTx/>
              <a:buFont typeface="Wingdings" panose="05000000000000000000" pitchFamily="2" charset="2"/>
              <a:buChar char="q"/>
            </a:pPr>
            <a:r>
              <a:rPr lang="fr-FR" dirty="0"/>
              <a:t>  la qualité des données collectées</a:t>
            </a:r>
          </a:p>
          <a:p>
            <a:pPr>
              <a:buClrTx/>
              <a:buFont typeface="Wingdings" panose="05000000000000000000" pitchFamily="2" charset="2"/>
              <a:buChar char="q"/>
            </a:pPr>
            <a:r>
              <a:rPr lang="fr-FR" dirty="0"/>
              <a:t>  la capacité de corrélation des événements</a:t>
            </a:r>
          </a:p>
          <a:p>
            <a:pPr>
              <a:buClrTx/>
              <a:buFont typeface="Wingdings" panose="05000000000000000000" pitchFamily="2" charset="2"/>
              <a:buChar char="q"/>
            </a:pPr>
            <a:r>
              <a:rPr lang="fr-FR" dirty="0"/>
              <a:t>  la gestion des faux positifs et des faux négatifs</a:t>
            </a:r>
          </a:p>
          <a:p>
            <a:pPr>
              <a:buClrTx/>
              <a:buFont typeface="Wingdings" panose="05000000000000000000" pitchFamily="2" charset="2"/>
              <a:buChar char="q"/>
            </a:pPr>
            <a:r>
              <a:rPr lang="fr-FR" dirty="0"/>
              <a:t>  la réactivité des alertes</a:t>
            </a:r>
          </a:p>
          <a:p>
            <a:pPr>
              <a:buClrTx/>
              <a:buFont typeface="Wingdings" panose="05000000000000000000" pitchFamily="2" charset="2"/>
              <a:buChar char="q"/>
            </a:pPr>
            <a:r>
              <a:rPr lang="fr-FR" dirty="0"/>
              <a:t>  la nécessité de disposer de personnel formé.</a:t>
            </a:r>
          </a:p>
        </p:txBody>
      </p:sp>
      <p:sp>
        <p:nvSpPr>
          <p:cNvPr id="4" name="Espace réservé du numéro de diapositive 3">
            <a:extLst>
              <a:ext uri="{FF2B5EF4-FFF2-40B4-BE49-F238E27FC236}">
                <a16:creationId xmlns:a16="http://schemas.microsoft.com/office/drawing/2014/main" id="{475EE981-0061-EF27-E9FA-4104B8AC7FA5}"/>
              </a:ext>
            </a:extLst>
          </p:cNvPr>
          <p:cNvSpPr>
            <a:spLocks noGrp="1"/>
          </p:cNvSpPr>
          <p:nvPr>
            <p:ph type="sldNum" sz="quarter" idx="12"/>
          </p:nvPr>
        </p:nvSpPr>
        <p:spPr/>
        <p:txBody>
          <a:bodyPr/>
          <a:lstStyle/>
          <a:p>
            <a:fld id="{CF61F438-8138-45E7-89D7-489A5C6A0ED8}" type="slidenum">
              <a:rPr lang="fr-FR" sz="1600" b="1" smtClean="0"/>
              <a:t>13</a:t>
            </a:fld>
            <a:endParaRPr lang="fr-FR" b="1" dirty="0"/>
          </a:p>
        </p:txBody>
      </p:sp>
    </p:spTree>
    <p:extLst>
      <p:ext uri="{BB962C8B-B14F-4D97-AF65-F5344CB8AC3E}">
        <p14:creationId xmlns:p14="http://schemas.microsoft.com/office/powerpoint/2010/main" val="27629872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5A5391-182F-550F-C7DC-2BD8CC25F94F}"/>
              </a:ext>
            </a:extLst>
          </p:cNvPr>
          <p:cNvSpPr>
            <a:spLocks noGrp="1"/>
          </p:cNvSpPr>
          <p:nvPr>
            <p:ph type="title"/>
          </p:nvPr>
        </p:nvSpPr>
        <p:spPr>
          <a:xfrm>
            <a:off x="1724333" y="436120"/>
            <a:ext cx="8743333" cy="905761"/>
          </a:xfrm>
        </p:spPr>
        <p:txBody>
          <a:bodyPr>
            <a:normAutofit/>
          </a:bodyPr>
          <a:lstStyle/>
          <a:p>
            <a:r>
              <a:rPr lang="fr-FR" sz="4400" b="1" u="sng" dirty="0">
                <a:solidFill>
                  <a:schemeClr val="accent3"/>
                </a:solidFill>
              </a:rPr>
              <a:t>MISE EN PLACE D’UN SIEM</a:t>
            </a:r>
            <a:endParaRPr lang="fr-FR" b="1" u="sng" dirty="0">
              <a:solidFill>
                <a:schemeClr val="accent3"/>
              </a:solidFill>
            </a:endParaRPr>
          </a:p>
        </p:txBody>
      </p:sp>
      <p:sp>
        <p:nvSpPr>
          <p:cNvPr id="3" name="Espace réservé du contenu 2">
            <a:extLst>
              <a:ext uri="{FF2B5EF4-FFF2-40B4-BE49-F238E27FC236}">
                <a16:creationId xmlns:a16="http://schemas.microsoft.com/office/drawing/2014/main" id="{0FE74F19-F9B7-0D01-774D-99279CB113D5}"/>
              </a:ext>
            </a:extLst>
          </p:cNvPr>
          <p:cNvSpPr>
            <a:spLocks noGrp="1"/>
          </p:cNvSpPr>
          <p:nvPr>
            <p:ph idx="1"/>
          </p:nvPr>
        </p:nvSpPr>
        <p:spPr>
          <a:xfrm>
            <a:off x="2878348" y="1355825"/>
            <a:ext cx="6435302" cy="614274"/>
          </a:xfrm>
        </p:spPr>
        <p:txBody>
          <a:bodyPr/>
          <a:lstStyle/>
          <a:p>
            <a:pPr marL="457200" indent="-457200" algn="just">
              <a:buClrTx/>
              <a:buFont typeface="+mj-lt"/>
              <a:buAutoNum type="alphaUcPeriod"/>
            </a:pPr>
            <a:r>
              <a:rPr lang="fr-FR" sz="2400" b="1" u="sng" dirty="0">
                <a:solidFill>
                  <a:schemeClr val="tx1"/>
                </a:solidFill>
              </a:rPr>
              <a:t>Étapes de mise en place d'un SIEM</a:t>
            </a:r>
          </a:p>
          <a:p>
            <a:pPr marL="0" indent="0" algn="just">
              <a:buNone/>
            </a:pPr>
            <a:endParaRPr lang="fr-FR" sz="2800" b="1" dirty="0"/>
          </a:p>
        </p:txBody>
      </p:sp>
      <p:sp>
        <p:nvSpPr>
          <p:cNvPr id="4" name="Espace réservé du numéro de diapositive 3">
            <a:extLst>
              <a:ext uri="{FF2B5EF4-FFF2-40B4-BE49-F238E27FC236}">
                <a16:creationId xmlns:a16="http://schemas.microsoft.com/office/drawing/2014/main" id="{2E63F1D8-1F48-A1DB-3C8F-D237B4A2FC33}"/>
              </a:ext>
            </a:extLst>
          </p:cNvPr>
          <p:cNvSpPr>
            <a:spLocks noGrp="1"/>
          </p:cNvSpPr>
          <p:nvPr>
            <p:ph type="sldNum" sz="quarter" idx="12"/>
          </p:nvPr>
        </p:nvSpPr>
        <p:spPr/>
        <p:txBody>
          <a:bodyPr/>
          <a:lstStyle/>
          <a:p>
            <a:fld id="{CF61F438-8138-45E7-89D7-489A5C6A0ED8}" type="slidenum">
              <a:rPr lang="fr-FR" sz="1600" b="1" smtClean="0"/>
              <a:t>14</a:t>
            </a:fld>
            <a:endParaRPr lang="fr-FR" b="1" dirty="0"/>
          </a:p>
        </p:txBody>
      </p:sp>
      <p:pic>
        <p:nvPicPr>
          <p:cNvPr id="6" name="Image 5">
            <a:extLst>
              <a:ext uri="{FF2B5EF4-FFF2-40B4-BE49-F238E27FC236}">
                <a16:creationId xmlns:a16="http://schemas.microsoft.com/office/drawing/2014/main" id="{2F6BB596-4E74-B3DB-F4E7-8705BA5C27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8348" y="1927640"/>
            <a:ext cx="6435302" cy="3002720"/>
          </a:xfrm>
          <a:prstGeom prst="rect">
            <a:avLst/>
          </a:prstGeom>
        </p:spPr>
      </p:pic>
      <p:sp>
        <p:nvSpPr>
          <p:cNvPr id="7" name="ZoneTexte 6">
            <a:extLst>
              <a:ext uri="{FF2B5EF4-FFF2-40B4-BE49-F238E27FC236}">
                <a16:creationId xmlns:a16="http://schemas.microsoft.com/office/drawing/2014/main" id="{0E01294F-B1D6-E5CC-7AAE-7DDB4CDD4E2B}"/>
              </a:ext>
            </a:extLst>
          </p:cNvPr>
          <p:cNvSpPr txBox="1"/>
          <p:nvPr/>
        </p:nvSpPr>
        <p:spPr>
          <a:xfrm>
            <a:off x="2782528" y="5132843"/>
            <a:ext cx="6626942" cy="369332"/>
          </a:xfrm>
          <a:prstGeom prst="rect">
            <a:avLst/>
          </a:prstGeom>
          <a:noFill/>
        </p:spPr>
        <p:txBody>
          <a:bodyPr wrap="square" rtlCol="0">
            <a:spAutoFit/>
          </a:bodyPr>
          <a:lstStyle/>
          <a:p>
            <a:pPr algn="ctr"/>
            <a:r>
              <a:rPr lang="fr-FR" u="sng" dirty="0"/>
              <a:t>Figure 6 : Les différentes étapes de la mise en place d’une solution SIEM </a:t>
            </a:r>
          </a:p>
        </p:txBody>
      </p:sp>
    </p:spTree>
    <p:extLst>
      <p:ext uri="{BB962C8B-B14F-4D97-AF65-F5344CB8AC3E}">
        <p14:creationId xmlns:p14="http://schemas.microsoft.com/office/powerpoint/2010/main" val="1908271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CD94E30-1B2A-9041-B819-4A56C312E6BA}"/>
              </a:ext>
            </a:extLst>
          </p:cNvPr>
          <p:cNvSpPr>
            <a:spLocks noGrp="1"/>
          </p:cNvSpPr>
          <p:nvPr>
            <p:ph type="sldNum" sz="quarter" idx="12"/>
          </p:nvPr>
        </p:nvSpPr>
        <p:spPr/>
        <p:txBody>
          <a:bodyPr/>
          <a:lstStyle/>
          <a:p>
            <a:fld id="{CF61F438-8138-45E7-89D7-489A5C6A0ED8}" type="slidenum">
              <a:rPr lang="fr-FR" sz="1600" b="1" smtClean="0"/>
              <a:t>15</a:t>
            </a:fld>
            <a:endParaRPr lang="fr-FR" b="1" dirty="0"/>
          </a:p>
        </p:txBody>
      </p:sp>
      <p:sp>
        <p:nvSpPr>
          <p:cNvPr id="3" name="ZoneTexte 2">
            <a:extLst>
              <a:ext uri="{FF2B5EF4-FFF2-40B4-BE49-F238E27FC236}">
                <a16:creationId xmlns:a16="http://schemas.microsoft.com/office/drawing/2014/main" id="{CC69AAA0-87B2-CCC5-FC46-E9E673E80692}"/>
              </a:ext>
            </a:extLst>
          </p:cNvPr>
          <p:cNvSpPr txBox="1"/>
          <p:nvPr/>
        </p:nvSpPr>
        <p:spPr>
          <a:xfrm>
            <a:off x="2215452" y="1582340"/>
            <a:ext cx="7761096" cy="3693319"/>
          </a:xfrm>
          <a:prstGeom prst="rect">
            <a:avLst/>
          </a:prstGeom>
          <a:noFill/>
        </p:spPr>
        <p:txBody>
          <a:bodyPr wrap="square" rtlCol="0">
            <a:spAutoFit/>
          </a:bodyPr>
          <a:lstStyle/>
          <a:p>
            <a:pPr marL="457200" indent="-457200">
              <a:buFont typeface="+mj-lt"/>
              <a:buAutoNum type="alphaUcPeriod" startAt="2"/>
            </a:pPr>
            <a:r>
              <a:rPr lang="fr-FR" sz="2400" b="1" u="sng" dirty="0"/>
              <a:t>Critères de choix d'un SIEM</a:t>
            </a:r>
          </a:p>
          <a:p>
            <a:endParaRPr lang="fr-FR" dirty="0"/>
          </a:p>
          <a:p>
            <a:r>
              <a:rPr lang="fr-FR" sz="2400" dirty="0"/>
              <a:t>Pour le choix du SIEM adéquat, il est important de prendre en compte certains critères :</a:t>
            </a:r>
          </a:p>
          <a:p>
            <a:endParaRPr lang="fr-FR" sz="2400" dirty="0"/>
          </a:p>
          <a:p>
            <a:pPr marL="342900" indent="-342900">
              <a:buFont typeface="Wingdings" panose="05000000000000000000" pitchFamily="2" charset="2"/>
              <a:buChar char="q"/>
            </a:pPr>
            <a:r>
              <a:rPr lang="fr-FR" sz="2400" b="1" dirty="0"/>
              <a:t> Les fonctionnalités</a:t>
            </a:r>
          </a:p>
          <a:p>
            <a:pPr marL="342900" indent="-342900">
              <a:buFont typeface="Wingdings" panose="05000000000000000000" pitchFamily="2" charset="2"/>
              <a:buChar char="q"/>
            </a:pPr>
            <a:r>
              <a:rPr lang="fr-FR" sz="2400" b="1" dirty="0"/>
              <a:t> L’architecture</a:t>
            </a:r>
          </a:p>
          <a:p>
            <a:pPr marL="342900" indent="-342900">
              <a:buFont typeface="Wingdings" panose="05000000000000000000" pitchFamily="2" charset="2"/>
              <a:buChar char="q"/>
            </a:pPr>
            <a:r>
              <a:rPr lang="fr-FR" sz="2400" b="1" dirty="0"/>
              <a:t> La facilité d’utilisation</a:t>
            </a:r>
          </a:p>
          <a:p>
            <a:pPr marL="342900" indent="-342900">
              <a:buFont typeface="Wingdings" panose="05000000000000000000" pitchFamily="2" charset="2"/>
              <a:buChar char="q"/>
            </a:pPr>
            <a:r>
              <a:rPr lang="fr-FR" sz="2400" b="1" dirty="0"/>
              <a:t> La compatibilité avec les systèmes existants</a:t>
            </a:r>
          </a:p>
          <a:p>
            <a:pPr marL="342900" indent="-342900">
              <a:buFont typeface="Wingdings" panose="05000000000000000000" pitchFamily="2" charset="2"/>
              <a:buChar char="q"/>
            </a:pPr>
            <a:r>
              <a:rPr lang="fr-FR" sz="2400" b="1" dirty="0"/>
              <a:t> Le coût</a:t>
            </a:r>
          </a:p>
        </p:txBody>
      </p:sp>
    </p:spTree>
    <p:extLst>
      <p:ext uri="{BB962C8B-B14F-4D97-AF65-F5344CB8AC3E}">
        <p14:creationId xmlns:p14="http://schemas.microsoft.com/office/powerpoint/2010/main" val="1082985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485CD-3A54-0121-638C-CCC7068EB366}"/>
              </a:ext>
            </a:extLst>
          </p:cNvPr>
          <p:cNvSpPr>
            <a:spLocks noGrp="1"/>
          </p:cNvSpPr>
          <p:nvPr>
            <p:ph type="title"/>
          </p:nvPr>
        </p:nvSpPr>
        <p:spPr>
          <a:xfrm>
            <a:off x="534780" y="352679"/>
            <a:ext cx="11122440" cy="811114"/>
          </a:xfrm>
        </p:spPr>
        <p:txBody>
          <a:bodyPr>
            <a:normAutofit/>
          </a:bodyPr>
          <a:lstStyle/>
          <a:p>
            <a:r>
              <a:rPr lang="fr-FR" sz="4000" b="1" u="sng" dirty="0">
                <a:solidFill>
                  <a:schemeClr val="accent3"/>
                </a:solidFill>
              </a:rPr>
              <a:t>PRÉSENTATION</a:t>
            </a:r>
            <a:r>
              <a:rPr lang="fr-FR" sz="4400" b="1" u="sng" dirty="0">
                <a:solidFill>
                  <a:schemeClr val="accent3"/>
                </a:solidFill>
              </a:rPr>
              <a:t> </a:t>
            </a:r>
            <a:r>
              <a:rPr lang="fr-FR" sz="4000" b="1" u="sng" dirty="0">
                <a:solidFill>
                  <a:schemeClr val="accent3"/>
                </a:solidFill>
              </a:rPr>
              <a:t>DE LA SOLUTION WAZUH</a:t>
            </a:r>
          </a:p>
        </p:txBody>
      </p:sp>
      <p:sp>
        <p:nvSpPr>
          <p:cNvPr id="3" name="Espace réservé du contenu 2">
            <a:extLst>
              <a:ext uri="{FF2B5EF4-FFF2-40B4-BE49-F238E27FC236}">
                <a16:creationId xmlns:a16="http://schemas.microsoft.com/office/drawing/2014/main" id="{900B2CBA-2BA0-2AB2-F034-CC05C4ECA034}"/>
              </a:ext>
            </a:extLst>
          </p:cNvPr>
          <p:cNvSpPr>
            <a:spLocks noGrp="1"/>
          </p:cNvSpPr>
          <p:nvPr>
            <p:ph idx="1"/>
          </p:nvPr>
        </p:nvSpPr>
        <p:spPr>
          <a:xfrm>
            <a:off x="2085500" y="1346991"/>
            <a:ext cx="6194134" cy="487070"/>
          </a:xfrm>
        </p:spPr>
        <p:txBody>
          <a:bodyPr>
            <a:normAutofit/>
          </a:bodyPr>
          <a:lstStyle/>
          <a:p>
            <a:pPr marL="457200" indent="-457200" algn="just">
              <a:buClrTx/>
              <a:buFont typeface="+mj-lt"/>
              <a:buAutoNum type="alphaUcPeriod"/>
            </a:pPr>
            <a:r>
              <a:rPr lang="fr-FR" sz="2400" b="1" u="sng" dirty="0">
                <a:solidFill>
                  <a:schemeClr val="tx1"/>
                </a:solidFill>
              </a:rPr>
              <a:t>Les différents composants de Wazuh</a:t>
            </a:r>
          </a:p>
        </p:txBody>
      </p:sp>
      <p:sp>
        <p:nvSpPr>
          <p:cNvPr id="4" name="Espace réservé du numéro de diapositive 3">
            <a:extLst>
              <a:ext uri="{FF2B5EF4-FFF2-40B4-BE49-F238E27FC236}">
                <a16:creationId xmlns:a16="http://schemas.microsoft.com/office/drawing/2014/main" id="{63657C82-7716-761C-DD1A-889A40F74C5C}"/>
              </a:ext>
            </a:extLst>
          </p:cNvPr>
          <p:cNvSpPr>
            <a:spLocks noGrp="1"/>
          </p:cNvSpPr>
          <p:nvPr>
            <p:ph type="sldNum" sz="quarter" idx="12"/>
          </p:nvPr>
        </p:nvSpPr>
        <p:spPr>
          <a:xfrm>
            <a:off x="10353900" y="5969000"/>
            <a:ext cx="542697" cy="279400"/>
          </a:xfrm>
        </p:spPr>
        <p:txBody>
          <a:bodyPr/>
          <a:lstStyle/>
          <a:p>
            <a:fld id="{CF61F438-8138-45E7-89D7-489A5C6A0ED8}" type="slidenum">
              <a:rPr lang="fr-FR" sz="1600" b="1" smtClean="0"/>
              <a:t>16</a:t>
            </a:fld>
            <a:endParaRPr lang="fr-FR" b="1" dirty="0"/>
          </a:p>
        </p:txBody>
      </p:sp>
      <p:pic>
        <p:nvPicPr>
          <p:cNvPr id="10" name="Image 9">
            <a:extLst>
              <a:ext uri="{FF2B5EF4-FFF2-40B4-BE49-F238E27FC236}">
                <a16:creationId xmlns:a16="http://schemas.microsoft.com/office/drawing/2014/main" id="{6FE71FA1-9E40-8323-E2C1-43F5964687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85500" y="1985004"/>
            <a:ext cx="8333715" cy="3614664"/>
          </a:xfrm>
          <a:prstGeom prst="rect">
            <a:avLst/>
          </a:prstGeom>
        </p:spPr>
      </p:pic>
      <p:sp>
        <p:nvSpPr>
          <p:cNvPr id="11" name="ZoneTexte 10">
            <a:extLst>
              <a:ext uri="{FF2B5EF4-FFF2-40B4-BE49-F238E27FC236}">
                <a16:creationId xmlns:a16="http://schemas.microsoft.com/office/drawing/2014/main" id="{7D8B358E-215D-814B-EC1D-E2CEDAF69050}"/>
              </a:ext>
            </a:extLst>
          </p:cNvPr>
          <p:cNvSpPr txBox="1"/>
          <p:nvPr/>
        </p:nvSpPr>
        <p:spPr>
          <a:xfrm>
            <a:off x="4421848" y="5599668"/>
            <a:ext cx="3472682" cy="369332"/>
          </a:xfrm>
          <a:prstGeom prst="rect">
            <a:avLst/>
          </a:prstGeom>
          <a:noFill/>
        </p:spPr>
        <p:txBody>
          <a:bodyPr wrap="none" rtlCol="0">
            <a:spAutoFit/>
          </a:bodyPr>
          <a:lstStyle/>
          <a:p>
            <a:r>
              <a:rPr lang="fr-FR" u="sng" dirty="0"/>
              <a:t>Figure 7 : Les composants de Wazuh</a:t>
            </a:r>
          </a:p>
        </p:txBody>
      </p:sp>
    </p:spTree>
    <p:extLst>
      <p:ext uri="{BB962C8B-B14F-4D97-AF65-F5344CB8AC3E}">
        <p14:creationId xmlns:p14="http://schemas.microsoft.com/office/powerpoint/2010/main" val="1099131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630D3E0-14A7-48C7-61F9-C2BF9FF8F176}"/>
              </a:ext>
            </a:extLst>
          </p:cNvPr>
          <p:cNvSpPr>
            <a:spLocks noGrp="1"/>
          </p:cNvSpPr>
          <p:nvPr>
            <p:ph type="sldNum" sz="quarter" idx="12"/>
          </p:nvPr>
        </p:nvSpPr>
        <p:spPr/>
        <p:txBody>
          <a:bodyPr/>
          <a:lstStyle/>
          <a:p>
            <a:fld id="{CF61F438-8138-45E7-89D7-489A5C6A0ED8}" type="slidenum">
              <a:rPr lang="fr-FR" sz="1600" b="1" smtClean="0"/>
              <a:t>17</a:t>
            </a:fld>
            <a:endParaRPr lang="fr-FR" b="1" dirty="0"/>
          </a:p>
        </p:txBody>
      </p:sp>
      <p:sp>
        <p:nvSpPr>
          <p:cNvPr id="3" name="ZoneTexte 2">
            <a:extLst>
              <a:ext uri="{FF2B5EF4-FFF2-40B4-BE49-F238E27FC236}">
                <a16:creationId xmlns:a16="http://schemas.microsoft.com/office/drawing/2014/main" id="{3FEF828D-8211-5D5B-7D8B-5F46964A41FD}"/>
              </a:ext>
            </a:extLst>
          </p:cNvPr>
          <p:cNvSpPr txBox="1"/>
          <p:nvPr/>
        </p:nvSpPr>
        <p:spPr>
          <a:xfrm>
            <a:off x="3802562" y="731501"/>
            <a:ext cx="4586869" cy="707886"/>
          </a:xfrm>
          <a:prstGeom prst="rect">
            <a:avLst/>
          </a:prstGeom>
          <a:noFill/>
        </p:spPr>
        <p:txBody>
          <a:bodyPr wrap="square" rtlCol="0">
            <a:spAutoFit/>
          </a:bodyPr>
          <a:lstStyle/>
          <a:p>
            <a:r>
              <a:rPr lang="fr-FR" sz="4000" b="1" u="sng" dirty="0">
                <a:latin typeface="+mj-lt"/>
              </a:rPr>
              <a:t>MISE EN ŒUVRE</a:t>
            </a:r>
            <a:endParaRPr lang="fr-FR" sz="4000" b="1" u="sng" dirty="0">
              <a:solidFill>
                <a:schemeClr val="tx1"/>
              </a:solidFill>
              <a:latin typeface="+mj-lt"/>
            </a:endParaRPr>
          </a:p>
        </p:txBody>
      </p:sp>
      <p:pic>
        <p:nvPicPr>
          <p:cNvPr id="6" name="Image 5">
            <a:extLst>
              <a:ext uri="{FF2B5EF4-FFF2-40B4-BE49-F238E27FC236}">
                <a16:creationId xmlns:a16="http://schemas.microsoft.com/office/drawing/2014/main" id="{FE54B8C4-1F1D-187E-2FB9-B16A9A039D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8279" y="1649576"/>
            <a:ext cx="7115441" cy="3558847"/>
          </a:xfrm>
          <a:prstGeom prst="rect">
            <a:avLst/>
          </a:prstGeom>
        </p:spPr>
      </p:pic>
      <p:sp>
        <p:nvSpPr>
          <p:cNvPr id="7" name="ZoneTexte 6">
            <a:extLst>
              <a:ext uri="{FF2B5EF4-FFF2-40B4-BE49-F238E27FC236}">
                <a16:creationId xmlns:a16="http://schemas.microsoft.com/office/drawing/2014/main" id="{3ABD960A-2DD9-91E5-B7D2-6B87EE35C8D0}"/>
              </a:ext>
            </a:extLst>
          </p:cNvPr>
          <p:cNvSpPr txBox="1"/>
          <p:nvPr/>
        </p:nvSpPr>
        <p:spPr>
          <a:xfrm>
            <a:off x="4249884" y="5279362"/>
            <a:ext cx="3634521" cy="369332"/>
          </a:xfrm>
          <a:prstGeom prst="rect">
            <a:avLst/>
          </a:prstGeom>
          <a:noFill/>
        </p:spPr>
        <p:txBody>
          <a:bodyPr wrap="none" rtlCol="0">
            <a:spAutoFit/>
          </a:bodyPr>
          <a:lstStyle/>
          <a:p>
            <a:r>
              <a:rPr lang="fr-FR" u="sng" dirty="0"/>
              <a:t>Figure 8 : Architecture de déploiement</a:t>
            </a:r>
          </a:p>
        </p:txBody>
      </p:sp>
      <p:sp>
        <p:nvSpPr>
          <p:cNvPr id="4" name="ZoneTexte 3">
            <a:extLst>
              <a:ext uri="{FF2B5EF4-FFF2-40B4-BE49-F238E27FC236}">
                <a16:creationId xmlns:a16="http://schemas.microsoft.com/office/drawing/2014/main" id="{FFB85158-826B-DBB5-3FC9-291501FE7298}"/>
              </a:ext>
            </a:extLst>
          </p:cNvPr>
          <p:cNvSpPr txBox="1"/>
          <p:nvPr/>
        </p:nvSpPr>
        <p:spPr>
          <a:xfrm>
            <a:off x="3802565" y="731501"/>
            <a:ext cx="4586869" cy="707886"/>
          </a:xfrm>
          <a:prstGeom prst="rect">
            <a:avLst/>
          </a:prstGeom>
          <a:noFill/>
        </p:spPr>
        <p:txBody>
          <a:bodyPr wrap="square" rtlCol="0">
            <a:spAutoFit/>
          </a:bodyPr>
          <a:lstStyle/>
          <a:p>
            <a:r>
              <a:rPr lang="fr-FR" sz="4000" b="1" u="sng" dirty="0">
                <a:solidFill>
                  <a:schemeClr val="accent3"/>
                </a:solidFill>
                <a:latin typeface="+mj-lt"/>
              </a:rPr>
              <a:t>MISE EN ŒUVRE</a:t>
            </a:r>
          </a:p>
        </p:txBody>
      </p:sp>
    </p:spTree>
    <p:extLst>
      <p:ext uri="{BB962C8B-B14F-4D97-AF65-F5344CB8AC3E}">
        <p14:creationId xmlns:p14="http://schemas.microsoft.com/office/powerpoint/2010/main" val="2094277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468A985-9589-A71A-186C-014A270F7DAB}"/>
              </a:ext>
            </a:extLst>
          </p:cNvPr>
          <p:cNvSpPr>
            <a:spLocks noGrp="1"/>
          </p:cNvSpPr>
          <p:nvPr>
            <p:ph type="sldNum" sz="quarter" idx="12"/>
          </p:nvPr>
        </p:nvSpPr>
        <p:spPr/>
        <p:txBody>
          <a:bodyPr/>
          <a:lstStyle/>
          <a:p>
            <a:fld id="{CF61F438-8138-45E7-89D7-489A5C6A0ED8}" type="slidenum">
              <a:rPr lang="fr-FR" sz="1600" b="1" smtClean="0"/>
              <a:t>18</a:t>
            </a:fld>
            <a:endParaRPr lang="fr-FR" b="1" dirty="0"/>
          </a:p>
        </p:txBody>
      </p:sp>
      <p:sp>
        <p:nvSpPr>
          <p:cNvPr id="6" name="ZoneTexte 5">
            <a:extLst>
              <a:ext uri="{FF2B5EF4-FFF2-40B4-BE49-F238E27FC236}">
                <a16:creationId xmlns:a16="http://schemas.microsoft.com/office/drawing/2014/main" id="{7E5D1C92-6059-1DA8-06ED-A29BE42C67C5}"/>
              </a:ext>
            </a:extLst>
          </p:cNvPr>
          <p:cNvSpPr txBox="1"/>
          <p:nvPr/>
        </p:nvSpPr>
        <p:spPr>
          <a:xfrm>
            <a:off x="1798994" y="1212159"/>
            <a:ext cx="8594009" cy="461665"/>
          </a:xfrm>
          <a:prstGeom prst="rect">
            <a:avLst/>
          </a:prstGeom>
          <a:noFill/>
        </p:spPr>
        <p:txBody>
          <a:bodyPr wrap="square">
            <a:spAutoFit/>
          </a:bodyPr>
          <a:lstStyle/>
          <a:p>
            <a:pPr marL="342900" indent="-342900" algn="just">
              <a:buFont typeface="+mj-lt"/>
              <a:buAutoNum type="alphaUcPeriod"/>
            </a:pPr>
            <a:r>
              <a:rPr lang="fr-FR" sz="2400" b="1" u="sng" dirty="0"/>
              <a:t>Surveillance des événements Sysmon</a:t>
            </a:r>
            <a:endParaRPr lang="fr-FR" sz="2400" b="1" u="sng" dirty="0">
              <a:solidFill>
                <a:schemeClr val="accent3"/>
              </a:solidFill>
            </a:endParaRPr>
          </a:p>
        </p:txBody>
      </p:sp>
      <p:pic>
        <p:nvPicPr>
          <p:cNvPr id="9" name="Image 8">
            <a:extLst>
              <a:ext uri="{FF2B5EF4-FFF2-40B4-BE49-F238E27FC236}">
                <a16:creationId xmlns:a16="http://schemas.microsoft.com/office/drawing/2014/main" id="{A1464DBB-672A-C29D-54D9-6603C6D7D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8995" y="1996984"/>
            <a:ext cx="8594009" cy="2864031"/>
          </a:xfrm>
          <a:prstGeom prst="rect">
            <a:avLst/>
          </a:prstGeom>
        </p:spPr>
      </p:pic>
      <p:sp>
        <p:nvSpPr>
          <p:cNvPr id="3" name="ZoneTexte 2">
            <a:extLst>
              <a:ext uri="{FF2B5EF4-FFF2-40B4-BE49-F238E27FC236}">
                <a16:creationId xmlns:a16="http://schemas.microsoft.com/office/drawing/2014/main" id="{64AD7E07-69BF-FC6B-C50A-A18A94287164}"/>
              </a:ext>
            </a:extLst>
          </p:cNvPr>
          <p:cNvSpPr txBox="1"/>
          <p:nvPr/>
        </p:nvSpPr>
        <p:spPr>
          <a:xfrm>
            <a:off x="3927749" y="4999509"/>
            <a:ext cx="4336498" cy="369332"/>
          </a:xfrm>
          <a:prstGeom prst="rect">
            <a:avLst/>
          </a:prstGeom>
          <a:noFill/>
        </p:spPr>
        <p:txBody>
          <a:bodyPr wrap="square" rtlCol="0">
            <a:spAutoFit/>
          </a:bodyPr>
          <a:lstStyle/>
          <a:p>
            <a:r>
              <a:rPr lang="fr-FR" u="sng" dirty="0"/>
              <a:t>Figure 9 : Configuration de l’agent Windows </a:t>
            </a:r>
          </a:p>
        </p:txBody>
      </p:sp>
    </p:spTree>
    <p:extLst>
      <p:ext uri="{BB962C8B-B14F-4D97-AF65-F5344CB8AC3E}">
        <p14:creationId xmlns:p14="http://schemas.microsoft.com/office/powerpoint/2010/main" val="4192015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2426993-BA17-D782-2515-67324A12A52C}"/>
              </a:ext>
            </a:extLst>
          </p:cNvPr>
          <p:cNvSpPr>
            <a:spLocks noGrp="1"/>
          </p:cNvSpPr>
          <p:nvPr>
            <p:ph type="sldNum" sz="quarter" idx="12"/>
          </p:nvPr>
        </p:nvSpPr>
        <p:spPr/>
        <p:txBody>
          <a:bodyPr/>
          <a:lstStyle/>
          <a:p>
            <a:fld id="{CF61F438-8138-45E7-89D7-489A5C6A0ED8}" type="slidenum">
              <a:rPr lang="fr-FR" sz="1600" b="1" smtClean="0"/>
              <a:t>19</a:t>
            </a:fld>
            <a:endParaRPr lang="fr-FR" b="1" dirty="0"/>
          </a:p>
        </p:txBody>
      </p:sp>
      <p:pic>
        <p:nvPicPr>
          <p:cNvPr id="3" name="Image 2">
            <a:extLst>
              <a:ext uri="{FF2B5EF4-FFF2-40B4-BE49-F238E27FC236}">
                <a16:creationId xmlns:a16="http://schemas.microsoft.com/office/drawing/2014/main" id="{41A09BC7-1A2C-FB8E-7A51-4199DA4B26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3755" y="889000"/>
            <a:ext cx="7464490" cy="4385388"/>
          </a:xfrm>
          <a:prstGeom prst="rect">
            <a:avLst/>
          </a:prstGeom>
        </p:spPr>
      </p:pic>
      <p:sp>
        <p:nvSpPr>
          <p:cNvPr id="4" name="ZoneTexte 3">
            <a:extLst>
              <a:ext uri="{FF2B5EF4-FFF2-40B4-BE49-F238E27FC236}">
                <a16:creationId xmlns:a16="http://schemas.microsoft.com/office/drawing/2014/main" id="{DE683176-A081-1A5D-CD7D-8A20F63E2CD7}"/>
              </a:ext>
            </a:extLst>
          </p:cNvPr>
          <p:cNvSpPr txBox="1"/>
          <p:nvPr/>
        </p:nvSpPr>
        <p:spPr>
          <a:xfrm>
            <a:off x="3688125" y="5487198"/>
            <a:ext cx="4815750" cy="369332"/>
          </a:xfrm>
          <a:prstGeom prst="rect">
            <a:avLst/>
          </a:prstGeom>
          <a:noFill/>
        </p:spPr>
        <p:txBody>
          <a:bodyPr wrap="square" rtlCol="0">
            <a:spAutoFit/>
          </a:bodyPr>
          <a:lstStyle/>
          <a:p>
            <a:r>
              <a:rPr lang="fr-FR" u="sng" dirty="0"/>
              <a:t>Figure 10 : Configuration des règles de détection</a:t>
            </a:r>
          </a:p>
        </p:txBody>
      </p:sp>
    </p:spTree>
    <p:extLst>
      <p:ext uri="{BB962C8B-B14F-4D97-AF65-F5344CB8AC3E}">
        <p14:creationId xmlns:p14="http://schemas.microsoft.com/office/powerpoint/2010/main" val="93198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7BCFE792-F8DA-5695-4D15-261119EDBADA}"/>
              </a:ext>
            </a:extLst>
          </p:cNvPr>
          <p:cNvSpPr>
            <a:spLocks noGrp="1"/>
          </p:cNvSpPr>
          <p:nvPr>
            <p:ph type="sldNum" sz="quarter" idx="12"/>
          </p:nvPr>
        </p:nvSpPr>
        <p:spPr/>
        <p:txBody>
          <a:bodyPr/>
          <a:lstStyle/>
          <a:p>
            <a:fld id="{CF61F438-8138-45E7-89D7-489A5C6A0ED8}" type="slidenum">
              <a:rPr lang="fr-FR" sz="1600" b="1" smtClean="0"/>
              <a:t>20</a:t>
            </a:fld>
            <a:endParaRPr lang="fr-FR" b="1" dirty="0"/>
          </a:p>
        </p:txBody>
      </p:sp>
      <p:pic>
        <p:nvPicPr>
          <p:cNvPr id="4" name="Image 3">
            <a:extLst>
              <a:ext uri="{FF2B5EF4-FFF2-40B4-BE49-F238E27FC236}">
                <a16:creationId xmlns:a16="http://schemas.microsoft.com/office/drawing/2014/main" id="{921773C2-2E03-9DDB-BCEF-A0037EA8A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36027" y="2428553"/>
            <a:ext cx="7514461" cy="2000893"/>
          </a:xfrm>
          <a:prstGeom prst="rect">
            <a:avLst/>
          </a:prstGeom>
        </p:spPr>
      </p:pic>
      <p:sp>
        <p:nvSpPr>
          <p:cNvPr id="5" name="ZoneTexte 4">
            <a:extLst>
              <a:ext uri="{FF2B5EF4-FFF2-40B4-BE49-F238E27FC236}">
                <a16:creationId xmlns:a16="http://schemas.microsoft.com/office/drawing/2014/main" id="{64BE1805-AE09-D343-A95D-07A3CCF51AF9}"/>
              </a:ext>
            </a:extLst>
          </p:cNvPr>
          <p:cNvSpPr txBox="1"/>
          <p:nvPr/>
        </p:nvSpPr>
        <p:spPr>
          <a:xfrm>
            <a:off x="2236027" y="1035699"/>
            <a:ext cx="7411721" cy="1200329"/>
          </a:xfrm>
          <a:prstGeom prst="rect">
            <a:avLst/>
          </a:prstGeom>
          <a:noFill/>
        </p:spPr>
        <p:txBody>
          <a:bodyPr wrap="square" rtlCol="0">
            <a:spAutoFit/>
          </a:bodyPr>
          <a:lstStyle/>
          <a:p>
            <a:r>
              <a:rPr lang="fr-FR" sz="2400" dirty="0"/>
              <a:t>Après avoir configurer l’agent et le gestionnaire Wazuh, on a réussi à extraire les informations d’identification locales de l’utilisateur  </a:t>
            </a:r>
          </a:p>
        </p:txBody>
      </p:sp>
      <p:sp>
        <p:nvSpPr>
          <p:cNvPr id="3" name="ZoneTexte 2">
            <a:extLst>
              <a:ext uri="{FF2B5EF4-FFF2-40B4-BE49-F238E27FC236}">
                <a16:creationId xmlns:a16="http://schemas.microsoft.com/office/drawing/2014/main" id="{CE8E6A64-34B9-0AFA-7925-49771CC8927C}"/>
              </a:ext>
            </a:extLst>
          </p:cNvPr>
          <p:cNvSpPr txBox="1"/>
          <p:nvPr/>
        </p:nvSpPr>
        <p:spPr>
          <a:xfrm>
            <a:off x="3417734" y="4621971"/>
            <a:ext cx="5356531" cy="369332"/>
          </a:xfrm>
          <a:prstGeom prst="rect">
            <a:avLst/>
          </a:prstGeom>
          <a:noFill/>
        </p:spPr>
        <p:txBody>
          <a:bodyPr wrap="none" rtlCol="0">
            <a:spAutoFit/>
          </a:bodyPr>
          <a:lstStyle/>
          <a:p>
            <a:r>
              <a:rPr lang="fr-FR" u="sng" dirty="0"/>
              <a:t>Figure 11 : Récupération des informations d’identification</a:t>
            </a:r>
          </a:p>
        </p:txBody>
      </p:sp>
    </p:spTree>
    <p:extLst>
      <p:ext uri="{BB962C8B-B14F-4D97-AF65-F5344CB8AC3E}">
        <p14:creationId xmlns:p14="http://schemas.microsoft.com/office/powerpoint/2010/main" val="8492856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7B6A201-9085-C23E-858B-D803E4B6673B}"/>
              </a:ext>
            </a:extLst>
          </p:cNvPr>
          <p:cNvSpPr>
            <a:spLocks noGrp="1"/>
          </p:cNvSpPr>
          <p:nvPr>
            <p:ph type="sldNum" sz="quarter" idx="12"/>
          </p:nvPr>
        </p:nvSpPr>
        <p:spPr/>
        <p:txBody>
          <a:bodyPr/>
          <a:lstStyle/>
          <a:p>
            <a:fld id="{CF61F438-8138-45E7-89D7-489A5C6A0ED8}" type="slidenum">
              <a:rPr lang="fr-FR" sz="1600" b="1" smtClean="0"/>
              <a:t>21</a:t>
            </a:fld>
            <a:endParaRPr lang="fr-FR" sz="1600" b="1" dirty="0"/>
          </a:p>
        </p:txBody>
      </p:sp>
      <p:sp>
        <p:nvSpPr>
          <p:cNvPr id="4" name="ZoneTexte 3">
            <a:extLst>
              <a:ext uri="{FF2B5EF4-FFF2-40B4-BE49-F238E27FC236}">
                <a16:creationId xmlns:a16="http://schemas.microsoft.com/office/drawing/2014/main" id="{0553394E-88D9-2FCF-EEEA-FE2F98D3727E}"/>
              </a:ext>
            </a:extLst>
          </p:cNvPr>
          <p:cNvSpPr txBox="1"/>
          <p:nvPr/>
        </p:nvSpPr>
        <p:spPr>
          <a:xfrm>
            <a:off x="1764890" y="888999"/>
            <a:ext cx="8662220" cy="461665"/>
          </a:xfrm>
          <a:prstGeom prst="rect">
            <a:avLst/>
          </a:prstGeom>
          <a:noFill/>
        </p:spPr>
        <p:txBody>
          <a:bodyPr wrap="square">
            <a:spAutoFit/>
          </a:bodyPr>
          <a:lstStyle/>
          <a:p>
            <a:pPr marL="457200" indent="-457200" algn="just">
              <a:buFont typeface="+mj-lt"/>
              <a:buAutoNum type="alphaUcPeriod" startAt="2"/>
            </a:pPr>
            <a:r>
              <a:rPr lang="fr-FR" sz="2400" b="1" u="sng" dirty="0"/>
              <a:t>Détection des techniques de persistance Linux</a:t>
            </a:r>
          </a:p>
        </p:txBody>
      </p:sp>
      <p:pic>
        <p:nvPicPr>
          <p:cNvPr id="5" name="Image 4">
            <a:extLst>
              <a:ext uri="{FF2B5EF4-FFF2-40B4-BE49-F238E27FC236}">
                <a16:creationId xmlns:a16="http://schemas.microsoft.com/office/drawing/2014/main" id="{FAC713EB-2A29-0A70-264D-65F52BB9A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4890" y="1589567"/>
            <a:ext cx="8662220" cy="3678865"/>
          </a:xfrm>
          <a:prstGeom prst="rect">
            <a:avLst/>
          </a:prstGeom>
        </p:spPr>
      </p:pic>
      <p:sp>
        <p:nvSpPr>
          <p:cNvPr id="3" name="ZoneTexte 2">
            <a:extLst>
              <a:ext uri="{FF2B5EF4-FFF2-40B4-BE49-F238E27FC236}">
                <a16:creationId xmlns:a16="http://schemas.microsoft.com/office/drawing/2014/main" id="{10CEAD3C-3BE0-34A7-FA25-7573DB15F8F0}"/>
              </a:ext>
            </a:extLst>
          </p:cNvPr>
          <p:cNvSpPr txBox="1"/>
          <p:nvPr/>
        </p:nvSpPr>
        <p:spPr>
          <a:xfrm>
            <a:off x="4127929" y="5507335"/>
            <a:ext cx="3936142" cy="369332"/>
          </a:xfrm>
          <a:prstGeom prst="rect">
            <a:avLst/>
          </a:prstGeom>
          <a:noFill/>
        </p:spPr>
        <p:txBody>
          <a:bodyPr wrap="none" rtlCol="0">
            <a:spAutoFit/>
          </a:bodyPr>
          <a:lstStyle/>
          <a:p>
            <a:r>
              <a:rPr lang="fr-FR" u="sng" dirty="0"/>
              <a:t>Figure 12 : Configuration de l’agent Linux</a:t>
            </a:r>
          </a:p>
        </p:txBody>
      </p:sp>
    </p:spTree>
    <p:extLst>
      <p:ext uri="{BB962C8B-B14F-4D97-AF65-F5344CB8AC3E}">
        <p14:creationId xmlns:p14="http://schemas.microsoft.com/office/powerpoint/2010/main" val="232721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50F0F8AC-C5B0-5711-3A1B-3E5C1030F5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0188" y="545841"/>
            <a:ext cx="8431619" cy="4720856"/>
          </a:xfrm>
          <a:prstGeom prst="rect">
            <a:avLst/>
          </a:prstGeom>
        </p:spPr>
      </p:pic>
      <p:sp>
        <p:nvSpPr>
          <p:cNvPr id="4" name="ZoneTexte 3">
            <a:extLst>
              <a:ext uri="{FF2B5EF4-FFF2-40B4-BE49-F238E27FC236}">
                <a16:creationId xmlns:a16="http://schemas.microsoft.com/office/drawing/2014/main" id="{D23D0D1D-9BF4-9023-DE87-F2DBA4EF2AAF}"/>
              </a:ext>
            </a:extLst>
          </p:cNvPr>
          <p:cNvSpPr txBox="1"/>
          <p:nvPr/>
        </p:nvSpPr>
        <p:spPr>
          <a:xfrm>
            <a:off x="3888447" y="5411389"/>
            <a:ext cx="4415100" cy="369332"/>
          </a:xfrm>
          <a:prstGeom prst="rect">
            <a:avLst/>
          </a:prstGeom>
          <a:noFill/>
        </p:spPr>
        <p:txBody>
          <a:bodyPr wrap="square" rtlCol="0">
            <a:spAutoFit/>
          </a:bodyPr>
          <a:lstStyle/>
          <a:p>
            <a:r>
              <a:rPr lang="fr-FR" u="sng" dirty="0"/>
              <a:t>Figure 13 : Configuration du fichier de règles </a:t>
            </a:r>
          </a:p>
        </p:txBody>
      </p:sp>
      <p:sp>
        <p:nvSpPr>
          <p:cNvPr id="2" name="Espace réservé du numéro de diapositive 1">
            <a:extLst>
              <a:ext uri="{FF2B5EF4-FFF2-40B4-BE49-F238E27FC236}">
                <a16:creationId xmlns:a16="http://schemas.microsoft.com/office/drawing/2014/main" id="{99873BDB-5B3C-4C47-8634-183547F639CA}"/>
              </a:ext>
            </a:extLst>
          </p:cNvPr>
          <p:cNvSpPr>
            <a:spLocks noGrp="1"/>
          </p:cNvSpPr>
          <p:nvPr>
            <p:ph type="sldNum" sz="quarter" idx="12"/>
          </p:nvPr>
        </p:nvSpPr>
        <p:spPr/>
        <p:txBody>
          <a:bodyPr/>
          <a:lstStyle/>
          <a:p>
            <a:fld id="{CF61F438-8138-45E7-89D7-489A5C6A0ED8}" type="slidenum">
              <a:rPr lang="fr-FR" sz="1600" b="1" smtClean="0"/>
              <a:t>22</a:t>
            </a:fld>
            <a:endParaRPr lang="fr-FR" b="1" dirty="0"/>
          </a:p>
        </p:txBody>
      </p:sp>
    </p:spTree>
    <p:extLst>
      <p:ext uri="{BB962C8B-B14F-4D97-AF65-F5344CB8AC3E}">
        <p14:creationId xmlns:p14="http://schemas.microsoft.com/office/powerpoint/2010/main" val="4112553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2E99D2D-302C-F704-0F7B-C5C7F3D866BA}"/>
              </a:ext>
            </a:extLst>
          </p:cNvPr>
          <p:cNvSpPr>
            <a:spLocks noGrp="1"/>
          </p:cNvSpPr>
          <p:nvPr>
            <p:ph type="sldNum" sz="quarter" idx="12"/>
          </p:nvPr>
        </p:nvSpPr>
        <p:spPr/>
        <p:txBody>
          <a:bodyPr/>
          <a:lstStyle/>
          <a:p>
            <a:fld id="{CF61F438-8138-45E7-89D7-489A5C6A0ED8}" type="slidenum">
              <a:rPr lang="fr-FR" sz="1600" b="1" smtClean="0"/>
              <a:t>23</a:t>
            </a:fld>
            <a:endParaRPr lang="fr-FR" b="1" dirty="0"/>
          </a:p>
        </p:txBody>
      </p:sp>
      <p:pic>
        <p:nvPicPr>
          <p:cNvPr id="4" name="Image 3">
            <a:extLst>
              <a:ext uri="{FF2B5EF4-FFF2-40B4-BE49-F238E27FC236}">
                <a16:creationId xmlns:a16="http://schemas.microsoft.com/office/drawing/2014/main" id="{0595395B-0897-C45E-BE6C-F2A5E5DAF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9798" y="1495276"/>
            <a:ext cx="8352404" cy="3867447"/>
          </a:xfrm>
          <a:prstGeom prst="rect">
            <a:avLst/>
          </a:prstGeom>
        </p:spPr>
      </p:pic>
      <p:sp>
        <p:nvSpPr>
          <p:cNvPr id="3" name="ZoneTexte 2">
            <a:extLst>
              <a:ext uri="{FF2B5EF4-FFF2-40B4-BE49-F238E27FC236}">
                <a16:creationId xmlns:a16="http://schemas.microsoft.com/office/drawing/2014/main" id="{1C81DC3F-6A84-7D4D-807F-A1787A4EFF71}"/>
              </a:ext>
            </a:extLst>
          </p:cNvPr>
          <p:cNvSpPr txBox="1"/>
          <p:nvPr/>
        </p:nvSpPr>
        <p:spPr>
          <a:xfrm>
            <a:off x="4346963" y="5599668"/>
            <a:ext cx="3498073" cy="369332"/>
          </a:xfrm>
          <a:prstGeom prst="rect">
            <a:avLst/>
          </a:prstGeom>
          <a:noFill/>
        </p:spPr>
        <p:txBody>
          <a:bodyPr wrap="none" rtlCol="0">
            <a:spAutoFit/>
          </a:bodyPr>
          <a:lstStyle/>
          <a:p>
            <a:r>
              <a:rPr lang="fr-FR" u="sng" dirty="0"/>
              <a:t>Figure 14 : Visualisation des données</a:t>
            </a:r>
          </a:p>
        </p:txBody>
      </p:sp>
    </p:spTree>
    <p:extLst>
      <p:ext uri="{BB962C8B-B14F-4D97-AF65-F5344CB8AC3E}">
        <p14:creationId xmlns:p14="http://schemas.microsoft.com/office/powerpoint/2010/main" val="1056740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5D50A7-74AC-5DD8-533B-E9F6B303EB3D}"/>
              </a:ext>
            </a:extLst>
          </p:cNvPr>
          <p:cNvSpPr>
            <a:spLocks noGrp="1"/>
          </p:cNvSpPr>
          <p:nvPr>
            <p:ph type="title"/>
          </p:nvPr>
        </p:nvSpPr>
        <p:spPr>
          <a:xfrm>
            <a:off x="3776565" y="1642188"/>
            <a:ext cx="4079810" cy="835317"/>
          </a:xfrm>
        </p:spPr>
        <p:txBody>
          <a:bodyPr/>
          <a:lstStyle/>
          <a:p>
            <a:pPr algn="l"/>
            <a:r>
              <a:rPr lang="fr-FR" b="1" u="sng" dirty="0"/>
              <a:t>CONCLUSION</a:t>
            </a:r>
          </a:p>
        </p:txBody>
      </p:sp>
      <p:sp>
        <p:nvSpPr>
          <p:cNvPr id="3" name="Espace réservé du contenu 2">
            <a:extLst>
              <a:ext uri="{FF2B5EF4-FFF2-40B4-BE49-F238E27FC236}">
                <a16:creationId xmlns:a16="http://schemas.microsoft.com/office/drawing/2014/main" id="{AABE36D8-1F0B-D140-E7CA-5EA4158B62AC}"/>
              </a:ext>
            </a:extLst>
          </p:cNvPr>
          <p:cNvSpPr>
            <a:spLocks noGrp="1"/>
          </p:cNvSpPr>
          <p:nvPr>
            <p:ph idx="1"/>
          </p:nvPr>
        </p:nvSpPr>
        <p:spPr>
          <a:xfrm>
            <a:off x="1693093" y="2636125"/>
            <a:ext cx="8787151" cy="2350859"/>
          </a:xfrm>
        </p:spPr>
        <p:txBody>
          <a:bodyPr>
            <a:normAutofit/>
          </a:bodyPr>
          <a:lstStyle/>
          <a:p>
            <a:pPr marL="0" indent="0" algn="just">
              <a:buClrTx/>
              <a:buNone/>
            </a:pPr>
            <a:r>
              <a:rPr lang="fr-FR" dirty="0"/>
              <a:t>De ce travail de recherche, on peut voir que les SIEM sont des outils capables d’améliorer la sécurité des SI des entreprises à travers l’analyse et le traitement des logs et des événements de sécurité, certes ils ont également des avantages et des limites qu'il convient de prendre en compte avant de choisir une solution SIEM.</a:t>
            </a:r>
            <a:endParaRPr lang="fr-FR" sz="2400" dirty="0">
              <a:solidFill>
                <a:schemeClr val="tx1"/>
              </a:solidFill>
            </a:endParaRPr>
          </a:p>
        </p:txBody>
      </p:sp>
      <p:sp>
        <p:nvSpPr>
          <p:cNvPr id="4" name="Espace réservé du numéro de diapositive 3">
            <a:extLst>
              <a:ext uri="{FF2B5EF4-FFF2-40B4-BE49-F238E27FC236}">
                <a16:creationId xmlns:a16="http://schemas.microsoft.com/office/drawing/2014/main" id="{A97A0626-385F-2B5E-13D0-3E9165E5C729}"/>
              </a:ext>
            </a:extLst>
          </p:cNvPr>
          <p:cNvSpPr>
            <a:spLocks noGrp="1"/>
          </p:cNvSpPr>
          <p:nvPr>
            <p:ph type="sldNum" sz="quarter" idx="12"/>
          </p:nvPr>
        </p:nvSpPr>
        <p:spPr/>
        <p:txBody>
          <a:bodyPr/>
          <a:lstStyle/>
          <a:p>
            <a:fld id="{CF61F438-8138-45E7-89D7-489A5C6A0ED8}" type="slidenum">
              <a:rPr lang="fr-FR" sz="1600" b="1" smtClean="0"/>
              <a:t>24</a:t>
            </a:fld>
            <a:endParaRPr lang="fr-FR" b="1" dirty="0"/>
          </a:p>
        </p:txBody>
      </p:sp>
    </p:spTree>
    <p:extLst>
      <p:ext uri="{BB962C8B-B14F-4D97-AF65-F5344CB8AC3E}">
        <p14:creationId xmlns:p14="http://schemas.microsoft.com/office/powerpoint/2010/main" val="11394273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133CBF2-C7F3-C721-8976-CA96E0D104B2}"/>
              </a:ext>
            </a:extLst>
          </p:cNvPr>
          <p:cNvSpPr/>
          <p:nvPr/>
        </p:nvSpPr>
        <p:spPr>
          <a:xfrm>
            <a:off x="0" y="2654710"/>
            <a:ext cx="12192000" cy="17206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 name="Espace réservé du numéro de diapositive 1">
            <a:extLst>
              <a:ext uri="{FF2B5EF4-FFF2-40B4-BE49-F238E27FC236}">
                <a16:creationId xmlns:a16="http://schemas.microsoft.com/office/drawing/2014/main" id="{F790E417-BCF8-A2BB-F6EA-E8BD0FCC438F}"/>
              </a:ext>
            </a:extLst>
          </p:cNvPr>
          <p:cNvSpPr>
            <a:spLocks noGrp="1"/>
          </p:cNvSpPr>
          <p:nvPr>
            <p:ph type="sldNum" sz="quarter" idx="12"/>
          </p:nvPr>
        </p:nvSpPr>
        <p:spPr/>
        <p:txBody>
          <a:bodyPr/>
          <a:lstStyle/>
          <a:p>
            <a:r>
              <a:rPr lang="fr-FR" sz="1600" b="1" dirty="0"/>
              <a:t>23</a:t>
            </a:r>
          </a:p>
        </p:txBody>
      </p:sp>
      <p:sp>
        <p:nvSpPr>
          <p:cNvPr id="3" name="ZoneTexte 2">
            <a:extLst>
              <a:ext uri="{FF2B5EF4-FFF2-40B4-BE49-F238E27FC236}">
                <a16:creationId xmlns:a16="http://schemas.microsoft.com/office/drawing/2014/main" id="{2C21AB77-35DC-757F-A9FE-3661E017BD5A}"/>
              </a:ext>
            </a:extLst>
          </p:cNvPr>
          <p:cNvSpPr txBox="1"/>
          <p:nvPr/>
        </p:nvSpPr>
        <p:spPr>
          <a:xfrm>
            <a:off x="1745492" y="1843950"/>
            <a:ext cx="9408938" cy="3170099"/>
          </a:xfrm>
          <a:prstGeom prst="rect">
            <a:avLst/>
          </a:prstGeom>
          <a:noFill/>
        </p:spPr>
        <p:txBody>
          <a:bodyPr wrap="square" rtlCol="0">
            <a:spAutoFit/>
          </a:bodyPr>
          <a:lstStyle/>
          <a:p>
            <a:endParaRPr lang="fr-FR" sz="4000" dirty="0">
              <a:latin typeface="+mj-lt"/>
            </a:endParaRPr>
          </a:p>
          <a:p>
            <a:endParaRPr lang="fr-FR" sz="4000" dirty="0">
              <a:latin typeface="+mj-lt"/>
            </a:endParaRPr>
          </a:p>
          <a:p>
            <a:r>
              <a:rPr lang="fr-FR" sz="4000" b="1" dirty="0">
                <a:latin typeface="+mj-lt"/>
              </a:rPr>
              <a:t>MERCI POUR VOTRE ATTENTION</a:t>
            </a:r>
          </a:p>
          <a:p>
            <a:endParaRPr lang="fr-FR" sz="4000" dirty="0">
              <a:latin typeface="+mj-lt"/>
            </a:endParaRPr>
          </a:p>
          <a:p>
            <a:endParaRPr lang="fr-FR" sz="4000" dirty="0">
              <a:latin typeface="+mj-lt"/>
            </a:endParaRPr>
          </a:p>
        </p:txBody>
      </p:sp>
    </p:spTree>
    <p:extLst>
      <p:ext uri="{BB962C8B-B14F-4D97-AF65-F5344CB8AC3E}">
        <p14:creationId xmlns:p14="http://schemas.microsoft.com/office/powerpoint/2010/main" val="222744719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que">
  <a:themeElements>
    <a:clrScheme name="Organique">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que">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que">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E4E49EB0-FB00-41F5-9359-4843D783A23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5916</TotalTime>
  <Words>787</Words>
  <Application>Microsoft Office PowerPoint</Application>
  <PresentationFormat>Grand écran</PresentationFormat>
  <Paragraphs>125</Paragraphs>
  <Slides>25</Slides>
  <Notes>4</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25</vt:i4>
      </vt:variant>
    </vt:vector>
  </HeadingPairs>
  <TitlesOfParts>
    <vt:vector size="34" baseType="lpstr">
      <vt:lpstr>Agency FB</vt:lpstr>
      <vt:lpstr>Arial</vt:lpstr>
      <vt:lpstr>Calibri</vt:lpstr>
      <vt:lpstr>Garamond</vt:lpstr>
      <vt:lpstr>Inter</vt:lpstr>
      <vt:lpstr>Script MT Bold</vt:lpstr>
      <vt:lpstr>Times New Roman</vt:lpstr>
      <vt:lpstr>Wingdings</vt:lpstr>
      <vt:lpstr>Organique</vt:lpstr>
      <vt:lpstr>Présentation PowerPoint</vt:lpstr>
      <vt:lpstr>SOMMAIRE</vt:lpstr>
      <vt:lpstr>INTRODUCTION</vt:lpstr>
      <vt:lpstr>Présentation PowerPoint</vt:lpstr>
      <vt:lpstr>LA SÉCURITÉ INFORMATIQUE</vt:lpstr>
      <vt:lpstr>Présentation PowerPoint</vt:lpstr>
      <vt:lpstr>Présentation PowerPoint</vt:lpstr>
      <vt:lpstr>Présentation PowerPoint</vt:lpstr>
      <vt:lpstr>ANALYSE DES SIEM</vt:lpstr>
      <vt:lpstr>Présentation PowerPoint</vt:lpstr>
      <vt:lpstr>Présentation PowerPoint</vt:lpstr>
      <vt:lpstr>Présentation PowerPoint</vt:lpstr>
      <vt:lpstr>Présentation PowerPoint</vt:lpstr>
      <vt:lpstr>MISE EN PLACE D’UN SIEM</vt:lpstr>
      <vt:lpstr>Présentation PowerPoint</vt:lpstr>
      <vt:lpstr>PRÉSENTATION DE LA SOLUTION WAZUH</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CONCLUSION</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pathé djibril diouf</dc:creator>
  <cp:lastModifiedBy>pathé djibril diouf</cp:lastModifiedBy>
  <cp:revision>811</cp:revision>
  <dcterms:created xsi:type="dcterms:W3CDTF">2023-04-04T16:27:16Z</dcterms:created>
  <dcterms:modified xsi:type="dcterms:W3CDTF">2023-07-07T17:24:10Z</dcterms:modified>
</cp:coreProperties>
</file>